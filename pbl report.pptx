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8" r:id="rId5"/>
    <p:sldId id="267" r:id="rId6"/>
    <p:sldId id="265" r:id="rId7"/>
    <p:sldId id="266" r:id="rId8"/>
    <p:sldId id="269" r:id="rId9"/>
    <p:sldId id="262" r:id="rId10"/>
  </p:sldIdLst>
  <p:sldSz cx="7556500" cy="10693400"/>
  <p:notesSz cx="75565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116" autoAdjust="0"/>
    <p:restoredTop sz="94660"/>
  </p:normalViewPr>
  <p:slideViewPr>
    <p:cSldViewPr>
      <p:cViewPr varScale="1">
        <p:scale>
          <a:sx n="50" d="100"/>
          <a:sy n="50" d="100"/>
        </p:scale>
        <p:origin x="2616"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213" y="3314954"/>
            <a:ext cx="6428422" cy="224561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34427" y="5988304"/>
            <a:ext cx="5293995"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78142" y="2459482"/>
            <a:ext cx="328983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4867" y="2459482"/>
            <a:ext cx="328983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8142" y="427736"/>
            <a:ext cx="6806565" cy="17109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8142" y="2459482"/>
            <a:ext cx="6806565"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71369" y="9944862"/>
            <a:ext cx="2420112"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142" y="9944862"/>
            <a:ext cx="1739455"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5/12/2026</a:t>
            </a:fld>
            <a:endParaRPr lang="en-US"/>
          </a:p>
        </p:txBody>
      </p:sp>
      <p:sp>
        <p:nvSpPr>
          <p:cNvPr id="6" name="Holder 6"/>
          <p:cNvSpPr>
            <a:spLocks noGrp="1"/>
          </p:cNvSpPr>
          <p:nvPr>
            <p:ph type="sldNum" sz="quarter" idx="7"/>
          </p:nvPr>
        </p:nvSpPr>
        <p:spPr>
          <a:xfrm>
            <a:off x="5445252" y="9944862"/>
            <a:ext cx="1739455"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xilinx.com/"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22394" y="1471500"/>
            <a:ext cx="1715770" cy="162560"/>
          </a:xfrm>
          <a:prstGeom prst="rect">
            <a:avLst/>
          </a:prstGeom>
        </p:spPr>
        <p:txBody>
          <a:bodyPr vert="horz" wrap="square" lIns="0" tIns="12700" rIns="0" bIns="0" rtlCol="0">
            <a:spAutoFit/>
          </a:bodyPr>
          <a:lstStyle/>
          <a:p>
            <a:pPr marL="12700">
              <a:lnSpc>
                <a:spcPct val="100000"/>
              </a:lnSpc>
              <a:spcBef>
                <a:spcPts val="100"/>
              </a:spcBef>
            </a:pPr>
            <a:r>
              <a:rPr sz="900" i="1" dirty="0">
                <a:solidFill>
                  <a:srgbClr val="4C4C4C"/>
                </a:solidFill>
                <a:latin typeface="Arial"/>
                <a:cs typeface="Arial"/>
              </a:rPr>
              <a:t>PBL Secondary Research </a:t>
            </a:r>
            <a:r>
              <a:rPr sz="900" i="1" spc="-10" dirty="0">
                <a:solidFill>
                  <a:srgbClr val="4C4C4C"/>
                </a:solidFill>
                <a:latin typeface="Arial"/>
                <a:cs typeface="Arial"/>
              </a:rPr>
              <a:t>Report</a:t>
            </a:r>
            <a:endParaRPr sz="900">
              <a:latin typeface="Arial"/>
              <a:cs typeface="Arial"/>
            </a:endParaRPr>
          </a:p>
        </p:txBody>
      </p:sp>
      <p:sp>
        <p:nvSpPr>
          <p:cNvPr id="3" name="object 3"/>
          <p:cNvSpPr txBox="1"/>
          <p:nvPr/>
        </p:nvSpPr>
        <p:spPr>
          <a:xfrm>
            <a:off x="1417291" y="1827100"/>
            <a:ext cx="4725670" cy="685800"/>
          </a:xfrm>
          <a:prstGeom prst="rect">
            <a:avLst/>
          </a:prstGeom>
        </p:spPr>
        <p:txBody>
          <a:bodyPr vert="horz" wrap="square" lIns="0" tIns="12700" rIns="0" bIns="0" rtlCol="0">
            <a:spAutoFit/>
          </a:bodyPr>
          <a:lstStyle/>
          <a:p>
            <a:pPr marL="12700" marR="5080" indent="607060">
              <a:lnSpc>
                <a:spcPct val="108300"/>
              </a:lnSpc>
              <a:spcBef>
                <a:spcPts val="100"/>
              </a:spcBef>
            </a:pPr>
            <a:r>
              <a:rPr sz="2000" b="1" spc="-20" dirty="0">
                <a:latin typeface="Arial"/>
                <a:cs typeface="Arial"/>
              </a:rPr>
              <a:t>FPGA-</a:t>
            </a:r>
            <a:r>
              <a:rPr sz="2000" b="1" dirty="0">
                <a:latin typeface="Arial"/>
                <a:cs typeface="Arial"/>
              </a:rPr>
              <a:t>Based</a:t>
            </a:r>
            <a:r>
              <a:rPr sz="2000" b="1" spc="-15" dirty="0">
                <a:latin typeface="Arial"/>
                <a:cs typeface="Arial"/>
              </a:rPr>
              <a:t> </a:t>
            </a:r>
            <a:r>
              <a:rPr sz="2000" b="1" dirty="0">
                <a:latin typeface="Arial"/>
                <a:cs typeface="Arial"/>
              </a:rPr>
              <a:t>Hamming</a:t>
            </a:r>
            <a:r>
              <a:rPr sz="2000" b="1" spc="-10" dirty="0">
                <a:latin typeface="Arial"/>
                <a:cs typeface="Arial"/>
              </a:rPr>
              <a:t> </a:t>
            </a:r>
            <a:r>
              <a:rPr sz="2000" b="1" spc="-20" dirty="0">
                <a:latin typeface="Arial"/>
                <a:cs typeface="Arial"/>
              </a:rPr>
              <a:t>Code </a:t>
            </a:r>
            <a:r>
              <a:rPr sz="2000" b="1" dirty="0">
                <a:latin typeface="Arial"/>
                <a:cs typeface="Arial"/>
              </a:rPr>
              <a:t>Error</a:t>
            </a:r>
            <a:r>
              <a:rPr sz="2000" b="1" spc="-10" dirty="0">
                <a:latin typeface="Arial"/>
                <a:cs typeface="Arial"/>
              </a:rPr>
              <a:t> </a:t>
            </a:r>
            <a:r>
              <a:rPr sz="2000" b="1" dirty="0">
                <a:latin typeface="Arial"/>
                <a:cs typeface="Arial"/>
              </a:rPr>
              <a:t>Detection</a:t>
            </a:r>
            <a:r>
              <a:rPr sz="2000" b="1" spc="-10" dirty="0">
                <a:latin typeface="Arial"/>
                <a:cs typeface="Arial"/>
              </a:rPr>
              <a:t> </a:t>
            </a:r>
            <a:r>
              <a:rPr sz="2000" b="1" dirty="0">
                <a:latin typeface="Arial"/>
                <a:cs typeface="Arial"/>
              </a:rPr>
              <a:t>and</a:t>
            </a:r>
            <a:r>
              <a:rPr sz="2000" b="1" spc="-10" dirty="0">
                <a:latin typeface="Arial"/>
                <a:cs typeface="Arial"/>
              </a:rPr>
              <a:t> </a:t>
            </a:r>
            <a:r>
              <a:rPr sz="2000" b="1" dirty="0">
                <a:latin typeface="Arial"/>
                <a:cs typeface="Arial"/>
              </a:rPr>
              <a:t>Correction</a:t>
            </a:r>
            <a:r>
              <a:rPr sz="2000" b="1" spc="-10" dirty="0">
                <a:latin typeface="Arial"/>
                <a:cs typeface="Arial"/>
              </a:rPr>
              <a:t> System</a:t>
            </a:r>
            <a:endParaRPr sz="2000">
              <a:latin typeface="Arial"/>
              <a:cs typeface="Arial"/>
            </a:endParaRPr>
          </a:p>
        </p:txBody>
      </p:sp>
      <p:sp>
        <p:nvSpPr>
          <p:cNvPr id="4" name="object 4"/>
          <p:cNvSpPr/>
          <p:nvPr/>
        </p:nvSpPr>
        <p:spPr>
          <a:xfrm>
            <a:off x="976200" y="2811350"/>
            <a:ext cx="5607685" cy="0"/>
          </a:xfrm>
          <a:custGeom>
            <a:avLst/>
            <a:gdLst/>
            <a:ahLst/>
            <a:cxnLst/>
            <a:rect l="l" t="t" r="r" b="b"/>
            <a:pathLst>
              <a:path w="5607684">
                <a:moveTo>
                  <a:pt x="0" y="0"/>
                </a:moveTo>
                <a:lnTo>
                  <a:pt x="5607599" y="0"/>
                </a:lnTo>
              </a:path>
            </a:pathLst>
          </a:custGeom>
          <a:ln w="6350">
            <a:solidFill>
              <a:srgbClr val="000000"/>
            </a:solidFill>
          </a:ln>
        </p:spPr>
        <p:txBody>
          <a:bodyPr wrap="square" lIns="0" tIns="0" rIns="0" bIns="0" rtlCol="0"/>
          <a:lstStyle/>
          <a:p>
            <a:endParaRPr/>
          </a:p>
        </p:txBody>
      </p:sp>
      <p:sp>
        <p:nvSpPr>
          <p:cNvPr id="5" name="object 5"/>
          <p:cNvSpPr txBox="1"/>
          <p:nvPr/>
        </p:nvSpPr>
        <p:spPr>
          <a:xfrm>
            <a:off x="1158472" y="2976450"/>
            <a:ext cx="5243830" cy="193040"/>
          </a:xfrm>
          <a:prstGeom prst="rect">
            <a:avLst/>
          </a:prstGeom>
        </p:spPr>
        <p:txBody>
          <a:bodyPr vert="horz" wrap="square" lIns="0" tIns="12700" rIns="0" bIns="0" rtlCol="0">
            <a:spAutoFit/>
          </a:bodyPr>
          <a:lstStyle/>
          <a:p>
            <a:pPr marL="12700">
              <a:lnSpc>
                <a:spcPct val="100000"/>
              </a:lnSpc>
              <a:spcBef>
                <a:spcPts val="100"/>
              </a:spcBef>
            </a:pPr>
            <a:r>
              <a:rPr sz="1100" dirty="0">
                <a:latin typeface="Arial MT"/>
                <a:cs typeface="Arial MT"/>
              </a:rPr>
              <a:t>A</a:t>
            </a:r>
            <a:r>
              <a:rPr sz="1100" spc="-25" dirty="0">
                <a:latin typeface="Arial MT"/>
                <a:cs typeface="Arial MT"/>
              </a:rPr>
              <a:t> </a:t>
            </a:r>
            <a:r>
              <a:rPr sz="1100" dirty="0">
                <a:latin typeface="Arial MT"/>
                <a:cs typeface="Arial MT"/>
              </a:rPr>
              <a:t>comprehensive</a:t>
            </a:r>
            <a:r>
              <a:rPr sz="1100" spc="-25" dirty="0">
                <a:latin typeface="Arial MT"/>
                <a:cs typeface="Arial MT"/>
              </a:rPr>
              <a:t> </a:t>
            </a:r>
            <a:r>
              <a:rPr sz="1100" dirty="0">
                <a:latin typeface="Arial MT"/>
                <a:cs typeface="Arial MT"/>
              </a:rPr>
              <a:t>study</a:t>
            </a:r>
            <a:r>
              <a:rPr sz="1100" spc="-25" dirty="0">
                <a:latin typeface="Arial MT"/>
                <a:cs typeface="Arial MT"/>
              </a:rPr>
              <a:t> </a:t>
            </a:r>
            <a:r>
              <a:rPr sz="1100" dirty="0">
                <a:latin typeface="Arial MT"/>
                <a:cs typeface="Arial MT"/>
              </a:rPr>
              <a:t>of</a:t>
            </a:r>
            <a:r>
              <a:rPr sz="1100" spc="-20" dirty="0">
                <a:latin typeface="Arial MT"/>
                <a:cs typeface="Arial MT"/>
              </a:rPr>
              <a:t> </a:t>
            </a:r>
            <a:r>
              <a:rPr sz="1100" dirty="0">
                <a:latin typeface="Arial MT"/>
                <a:cs typeface="Arial MT"/>
              </a:rPr>
              <a:t>Hamming</a:t>
            </a:r>
            <a:r>
              <a:rPr sz="1100" spc="-25" dirty="0">
                <a:latin typeface="Arial MT"/>
                <a:cs typeface="Arial MT"/>
              </a:rPr>
              <a:t> </a:t>
            </a:r>
            <a:r>
              <a:rPr sz="1100" dirty="0">
                <a:latin typeface="Arial MT"/>
                <a:cs typeface="Arial MT"/>
              </a:rPr>
              <a:t>code</a:t>
            </a:r>
            <a:r>
              <a:rPr sz="1100" spc="-25" dirty="0">
                <a:latin typeface="Arial MT"/>
                <a:cs typeface="Arial MT"/>
              </a:rPr>
              <a:t> </a:t>
            </a:r>
            <a:r>
              <a:rPr sz="1100" dirty="0">
                <a:latin typeface="Arial MT"/>
                <a:cs typeface="Arial MT"/>
              </a:rPr>
              <a:t>theory,</a:t>
            </a:r>
            <a:r>
              <a:rPr sz="1100" spc="-25" dirty="0">
                <a:latin typeface="Arial MT"/>
                <a:cs typeface="Arial MT"/>
              </a:rPr>
              <a:t> </a:t>
            </a:r>
            <a:r>
              <a:rPr sz="1100" dirty="0">
                <a:latin typeface="Arial MT"/>
                <a:cs typeface="Arial MT"/>
              </a:rPr>
              <a:t>design,</a:t>
            </a:r>
            <a:r>
              <a:rPr sz="1100" spc="-20" dirty="0">
                <a:latin typeface="Arial MT"/>
                <a:cs typeface="Arial MT"/>
              </a:rPr>
              <a:t> </a:t>
            </a:r>
            <a:r>
              <a:rPr sz="1100" dirty="0">
                <a:latin typeface="Arial MT"/>
                <a:cs typeface="Arial MT"/>
              </a:rPr>
              <a:t>and</a:t>
            </a:r>
            <a:r>
              <a:rPr sz="1100" spc="-25" dirty="0">
                <a:latin typeface="Arial MT"/>
                <a:cs typeface="Arial MT"/>
              </a:rPr>
              <a:t> </a:t>
            </a:r>
            <a:r>
              <a:rPr sz="1100" dirty="0">
                <a:latin typeface="Arial MT"/>
                <a:cs typeface="Arial MT"/>
              </a:rPr>
              <a:t>FPGA</a:t>
            </a:r>
            <a:r>
              <a:rPr sz="1100" spc="-25" dirty="0">
                <a:latin typeface="Arial MT"/>
                <a:cs typeface="Arial MT"/>
              </a:rPr>
              <a:t> </a:t>
            </a:r>
            <a:r>
              <a:rPr sz="1100" spc="-10" dirty="0">
                <a:latin typeface="Arial MT"/>
                <a:cs typeface="Arial MT"/>
              </a:rPr>
              <a:t>implementation</a:t>
            </a:r>
            <a:endParaRPr sz="1100">
              <a:latin typeface="Arial MT"/>
              <a:cs typeface="Arial MT"/>
            </a:endParaRPr>
          </a:p>
        </p:txBody>
      </p:sp>
      <p:sp>
        <p:nvSpPr>
          <p:cNvPr id="8" name="TextBox 7">
            <a:extLst>
              <a:ext uri="{FF2B5EF4-FFF2-40B4-BE49-F238E27FC236}">
                <a16:creationId xmlns:a16="http://schemas.microsoft.com/office/drawing/2014/main" id="{F9812DCC-CFD6-2856-0D04-8E46FA58A97C}"/>
              </a:ext>
            </a:extLst>
          </p:cNvPr>
          <p:cNvSpPr txBox="1"/>
          <p:nvPr/>
        </p:nvSpPr>
        <p:spPr>
          <a:xfrm>
            <a:off x="889532" y="3356610"/>
            <a:ext cx="5777435" cy="2031325"/>
          </a:xfrm>
          <a:prstGeom prst="rect">
            <a:avLst/>
          </a:prstGeom>
          <a:noFill/>
        </p:spPr>
        <p:txBody>
          <a:bodyPr wrap="square" rtlCol="0">
            <a:spAutoFit/>
          </a:bodyPr>
          <a:lstStyle/>
          <a:p>
            <a:r>
              <a:rPr lang="en-US" b="1" dirty="0"/>
              <a:t>Team member </a:t>
            </a:r>
            <a:r>
              <a:rPr lang="en-US" b="1" dirty="0" err="1"/>
              <a:t>detaIls</a:t>
            </a:r>
            <a:r>
              <a:rPr lang="en-US" b="1" dirty="0"/>
              <a:t>:</a:t>
            </a:r>
          </a:p>
          <a:p>
            <a:endParaRPr lang="en-US" b="1" dirty="0"/>
          </a:p>
          <a:p>
            <a:r>
              <a:rPr lang="en-US" b="1" dirty="0"/>
              <a:t>MANVITH                                  4SO24EC066</a:t>
            </a:r>
          </a:p>
          <a:p>
            <a:r>
              <a:rPr lang="en-US" b="1" dirty="0"/>
              <a:t>JOEL ANSTON DSOUZA        4SO24EC064</a:t>
            </a:r>
            <a:endParaRPr lang="en-IN" b="1" dirty="0"/>
          </a:p>
          <a:p>
            <a:r>
              <a:rPr lang="en-US" b="1" dirty="0"/>
              <a:t>MANISH                                    4SO24EC049</a:t>
            </a:r>
            <a:endParaRPr lang="en-IN" b="1" dirty="0"/>
          </a:p>
          <a:p>
            <a:r>
              <a:rPr lang="en-US" b="1" dirty="0"/>
              <a:t>MEGHRAJ POOJARY              4SO24EC068</a:t>
            </a:r>
            <a:endParaRPr lang="en-IN" b="1" dirty="0"/>
          </a:p>
          <a:p>
            <a:endParaRPr lang="en-IN" dirty="0"/>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76200" y="1312750"/>
            <a:ext cx="5607685" cy="0"/>
          </a:xfrm>
          <a:custGeom>
            <a:avLst/>
            <a:gdLst/>
            <a:ahLst/>
            <a:cxnLst/>
            <a:rect l="l" t="t" r="r" b="b"/>
            <a:pathLst>
              <a:path w="5607684">
                <a:moveTo>
                  <a:pt x="0" y="0"/>
                </a:moveTo>
                <a:lnTo>
                  <a:pt x="5607599" y="0"/>
                </a:lnTo>
              </a:path>
            </a:pathLst>
          </a:custGeom>
          <a:ln w="6350">
            <a:solidFill>
              <a:srgbClr val="000000"/>
            </a:solidFill>
          </a:ln>
        </p:spPr>
        <p:txBody>
          <a:bodyPr wrap="square" lIns="0" tIns="0" rIns="0" bIns="0" rtlCol="0"/>
          <a:lstStyle/>
          <a:p>
            <a:endParaRPr/>
          </a:p>
        </p:txBody>
      </p:sp>
      <p:sp>
        <p:nvSpPr>
          <p:cNvPr id="3" name="object 3"/>
          <p:cNvSpPr/>
          <p:nvPr/>
        </p:nvSpPr>
        <p:spPr>
          <a:xfrm>
            <a:off x="976200" y="8113600"/>
            <a:ext cx="5607685" cy="0"/>
          </a:xfrm>
          <a:custGeom>
            <a:avLst/>
            <a:gdLst/>
            <a:ahLst/>
            <a:cxnLst/>
            <a:rect l="l" t="t" r="r" b="b"/>
            <a:pathLst>
              <a:path w="5607684">
                <a:moveTo>
                  <a:pt x="0" y="0"/>
                </a:moveTo>
                <a:lnTo>
                  <a:pt x="5607599" y="0"/>
                </a:lnTo>
              </a:path>
            </a:pathLst>
          </a:custGeom>
          <a:ln w="6350">
            <a:solidFill>
              <a:srgbClr val="000000"/>
            </a:solidFill>
          </a:ln>
        </p:spPr>
        <p:txBody>
          <a:bodyPr wrap="square" lIns="0" tIns="0" rIns="0" bIns="0" rtlCol="0"/>
          <a:lstStyle/>
          <a:p>
            <a:endParaRPr/>
          </a:p>
        </p:txBody>
      </p:sp>
      <p:sp>
        <p:nvSpPr>
          <p:cNvPr id="4" name="object 4"/>
          <p:cNvSpPr txBox="1"/>
          <p:nvPr/>
        </p:nvSpPr>
        <p:spPr>
          <a:xfrm>
            <a:off x="963500" y="963500"/>
            <a:ext cx="5633720" cy="8169481"/>
          </a:xfrm>
          <a:prstGeom prst="rect">
            <a:avLst/>
          </a:prstGeom>
        </p:spPr>
        <p:txBody>
          <a:bodyPr vert="horz" wrap="square" lIns="0" tIns="12700" rIns="0" bIns="0" rtlCol="0">
            <a:spAutoFit/>
          </a:bodyPr>
          <a:lstStyle/>
          <a:p>
            <a:pPr marL="12700" algn="just">
              <a:lnSpc>
                <a:spcPct val="100000"/>
              </a:lnSpc>
              <a:spcBef>
                <a:spcPts val="100"/>
              </a:spcBef>
            </a:pPr>
            <a:r>
              <a:rPr sz="1400" b="1" dirty="0">
                <a:latin typeface="Arial"/>
                <a:cs typeface="Arial"/>
              </a:rPr>
              <a:t>Chapter 1: </a:t>
            </a:r>
            <a:r>
              <a:rPr sz="1400" b="1" spc="-10" dirty="0">
                <a:latin typeface="Arial"/>
                <a:cs typeface="Arial"/>
              </a:rPr>
              <a:t>Introduction</a:t>
            </a:r>
            <a:endParaRPr sz="1400" dirty="0">
              <a:latin typeface="Arial"/>
              <a:cs typeface="Arial"/>
            </a:endParaRPr>
          </a:p>
          <a:p>
            <a:pPr>
              <a:lnSpc>
                <a:spcPct val="100000"/>
              </a:lnSpc>
              <a:spcBef>
                <a:spcPts val="560"/>
              </a:spcBef>
            </a:pPr>
            <a:endParaRPr sz="1400" dirty="0">
              <a:latin typeface="Arial"/>
              <a:cs typeface="Arial"/>
            </a:endParaRPr>
          </a:p>
          <a:p>
            <a:pPr marL="244475" lvl="1" indent="-231775">
              <a:lnSpc>
                <a:spcPct val="100000"/>
              </a:lnSpc>
              <a:buAutoNum type="arabicPeriod"/>
              <a:tabLst>
                <a:tab pos="244475" algn="l"/>
              </a:tabLst>
            </a:pPr>
            <a:r>
              <a:rPr sz="1100" b="1" spc="-10" dirty="0">
                <a:latin typeface="Arial"/>
                <a:cs typeface="Arial"/>
              </a:rPr>
              <a:t>Background</a:t>
            </a:r>
            <a:endParaRPr sz="1100" dirty="0">
              <a:latin typeface="Arial"/>
              <a:cs typeface="Arial"/>
            </a:endParaRPr>
          </a:p>
          <a:p>
            <a:r>
              <a:rPr sz="1000" dirty="0">
                <a:latin typeface="Arial MT"/>
                <a:cs typeface="Arial MT"/>
              </a:rPr>
              <a:t>Error</a:t>
            </a:r>
            <a:r>
              <a:rPr sz="1000" spc="125" dirty="0">
                <a:latin typeface="Arial MT"/>
                <a:cs typeface="Arial MT"/>
              </a:rPr>
              <a:t> </a:t>
            </a:r>
            <a:r>
              <a:rPr sz="1000" dirty="0">
                <a:latin typeface="Arial MT"/>
                <a:cs typeface="Arial MT"/>
              </a:rPr>
              <a:t>detection</a:t>
            </a:r>
            <a:r>
              <a:rPr sz="1000" spc="125" dirty="0">
                <a:latin typeface="Arial MT"/>
                <a:cs typeface="Arial MT"/>
              </a:rPr>
              <a:t> </a:t>
            </a:r>
            <a:r>
              <a:rPr sz="1000" dirty="0">
                <a:latin typeface="Arial MT"/>
                <a:cs typeface="Arial MT"/>
              </a:rPr>
              <a:t>and</a:t>
            </a:r>
            <a:r>
              <a:rPr sz="1000" spc="130" dirty="0">
                <a:latin typeface="Arial MT"/>
                <a:cs typeface="Arial MT"/>
              </a:rPr>
              <a:t> </a:t>
            </a:r>
            <a:r>
              <a:rPr sz="1000" dirty="0">
                <a:latin typeface="Arial MT"/>
                <a:cs typeface="Arial MT"/>
              </a:rPr>
              <a:t>correction</a:t>
            </a:r>
            <a:r>
              <a:rPr sz="1000" spc="125" dirty="0">
                <a:latin typeface="Arial MT"/>
                <a:cs typeface="Arial MT"/>
              </a:rPr>
              <a:t> </a:t>
            </a:r>
            <a:r>
              <a:rPr sz="1000" dirty="0">
                <a:latin typeface="Arial MT"/>
                <a:cs typeface="Arial MT"/>
              </a:rPr>
              <a:t>are</a:t>
            </a:r>
            <a:r>
              <a:rPr sz="1000" spc="130" dirty="0">
                <a:latin typeface="Arial MT"/>
                <a:cs typeface="Arial MT"/>
              </a:rPr>
              <a:t> </a:t>
            </a:r>
            <a:r>
              <a:rPr sz="1000" dirty="0">
                <a:latin typeface="Arial MT"/>
                <a:cs typeface="Arial MT"/>
              </a:rPr>
              <a:t>critical</a:t>
            </a:r>
            <a:r>
              <a:rPr sz="1000" spc="125" dirty="0">
                <a:latin typeface="Arial MT"/>
                <a:cs typeface="Arial MT"/>
              </a:rPr>
              <a:t> </a:t>
            </a:r>
            <a:r>
              <a:rPr sz="1000" dirty="0">
                <a:latin typeface="Arial MT"/>
                <a:cs typeface="Arial MT"/>
              </a:rPr>
              <a:t>functions</a:t>
            </a:r>
            <a:r>
              <a:rPr sz="1000" spc="130" dirty="0">
                <a:latin typeface="Arial MT"/>
                <a:cs typeface="Arial MT"/>
              </a:rPr>
              <a:t> </a:t>
            </a:r>
            <a:r>
              <a:rPr sz="1000" dirty="0">
                <a:latin typeface="Arial MT"/>
                <a:cs typeface="Arial MT"/>
              </a:rPr>
              <a:t>in</a:t>
            </a:r>
            <a:r>
              <a:rPr sz="1000" spc="125" dirty="0">
                <a:latin typeface="Arial MT"/>
                <a:cs typeface="Arial MT"/>
              </a:rPr>
              <a:t> </a:t>
            </a:r>
            <a:r>
              <a:rPr sz="1000" dirty="0">
                <a:latin typeface="Arial MT"/>
                <a:cs typeface="Arial MT"/>
              </a:rPr>
              <a:t>modern</a:t>
            </a:r>
            <a:r>
              <a:rPr sz="1000" spc="125" dirty="0">
                <a:latin typeface="Arial MT"/>
                <a:cs typeface="Arial MT"/>
              </a:rPr>
              <a:t> </a:t>
            </a:r>
            <a:r>
              <a:rPr sz="1000" dirty="0">
                <a:latin typeface="Arial MT"/>
                <a:cs typeface="Arial MT"/>
              </a:rPr>
              <a:t>digital</a:t>
            </a:r>
            <a:r>
              <a:rPr sz="1000" spc="130" dirty="0">
                <a:latin typeface="Arial MT"/>
                <a:cs typeface="Arial MT"/>
              </a:rPr>
              <a:t> </a:t>
            </a:r>
            <a:r>
              <a:rPr sz="1000" dirty="0">
                <a:latin typeface="Arial MT"/>
                <a:cs typeface="Arial MT"/>
              </a:rPr>
              <a:t>communication</a:t>
            </a:r>
            <a:r>
              <a:rPr sz="1000" spc="125" dirty="0">
                <a:latin typeface="Arial MT"/>
                <a:cs typeface="Arial MT"/>
              </a:rPr>
              <a:t> </a:t>
            </a:r>
            <a:r>
              <a:rPr sz="1000" dirty="0">
                <a:latin typeface="Arial MT"/>
                <a:cs typeface="Arial MT"/>
              </a:rPr>
              <a:t>systems.</a:t>
            </a:r>
            <a:r>
              <a:rPr sz="1000" spc="130" dirty="0">
                <a:latin typeface="Arial MT"/>
                <a:cs typeface="Arial MT"/>
              </a:rPr>
              <a:t> </a:t>
            </a:r>
            <a:r>
              <a:rPr sz="1000" spc="-25" dirty="0">
                <a:latin typeface="Arial MT"/>
                <a:cs typeface="Arial MT"/>
              </a:rPr>
              <a:t>As </a:t>
            </a:r>
            <a:r>
              <a:rPr sz="1000" dirty="0">
                <a:latin typeface="Arial MT"/>
                <a:cs typeface="Arial MT"/>
              </a:rPr>
              <a:t>data</a:t>
            </a:r>
            <a:r>
              <a:rPr sz="1000" spc="160" dirty="0">
                <a:latin typeface="Arial MT"/>
                <a:cs typeface="Arial MT"/>
              </a:rPr>
              <a:t> </a:t>
            </a:r>
            <a:r>
              <a:rPr sz="1000" dirty="0">
                <a:latin typeface="Arial MT"/>
                <a:cs typeface="Arial MT"/>
              </a:rPr>
              <a:t>travels</a:t>
            </a:r>
            <a:r>
              <a:rPr sz="1000" spc="165" dirty="0">
                <a:latin typeface="Arial MT"/>
                <a:cs typeface="Arial MT"/>
              </a:rPr>
              <a:t> </a:t>
            </a:r>
            <a:r>
              <a:rPr sz="1000" dirty="0">
                <a:latin typeface="Arial MT"/>
                <a:cs typeface="Arial MT"/>
              </a:rPr>
              <a:t>across</a:t>
            </a:r>
            <a:r>
              <a:rPr sz="1000" spc="165" dirty="0">
                <a:latin typeface="Arial MT"/>
                <a:cs typeface="Arial MT"/>
              </a:rPr>
              <a:t> </a:t>
            </a:r>
            <a:r>
              <a:rPr sz="1000" dirty="0">
                <a:latin typeface="Arial MT"/>
                <a:cs typeface="Arial MT"/>
              </a:rPr>
              <a:t>noisy</a:t>
            </a:r>
            <a:r>
              <a:rPr sz="1000" spc="165" dirty="0">
                <a:latin typeface="Arial MT"/>
                <a:cs typeface="Arial MT"/>
              </a:rPr>
              <a:t> </a:t>
            </a:r>
            <a:r>
              <a:rPr sz="1000" dirty="0">
                <a:latin typeface="Arial MT"/>
                <a:cs typeface="Arial MT"/>
              </a:rPr>
              <a:t>channels</a:t>
            </a:r>
            <a:r>
              <a:rPr sz="1000" spc="165" dirty="0">
                <a:latin typeface="Arial MT"/>
                <a:cs typeface="Arial MT"/>
              </a:rPr>
              <a:t> </a:t>
            </a:r>
            <a:r>
              <a:rPr sz="1000" dirty="0">
                <a:latin typeface="Arial MT"/>
                <a:cs typeface="Arial MT"/>
              </a:rPr>
              <a:t>—</a:t>
            </a:r>
            <a:r>
              <a:rPr sz="1000" spc="165" dirty="0">
                <a:latin typeface="Arial MT"/>
                <a:cs typeface="Arial MT"/>
              </a:rPr>
              <a:t> </a:t>
            </a:r>
            <a:r>
              <a:rPr sz="1000" dirty="0">
                <a:latin typeface="Arial MT"/>
                <a:cs typeface="Arial MT"/>
              </a:rPr>
              <a:t>whether</a:t>
            </a:r>
            <a:r>
              <a:rPr sz="1000" spc="165" dirty="0">
                <a:latin typeface="Arial MT"/>
                <a:cs typeface="Arial MT"/>
              </a:rPr>
              <a:t> </a:t>
            </a:r>
            <a:r>
              <a:rPr sz="1000" dirty="0">
                <a:latin typeface="Arial MT"/>
                <a:cs typeface="Arial MT"/>
              </a:rPr>
              <a:t>wired,</a:t>
            </a:r>
            <a:r>
              <a:rPr sz="1000" spc="165" dirty="0">
                <a:latin typeface="Arial MT"/>
                <a:cs typeface="Arial MT"/>
              </a:rPr>
              <a:t> </a:t>
            </a:r>
            <a:r>
              <a:rPr sz="1000" dirty="0">
                <a:latin typeface="Arial MT"/>
                <a:cs typeface="Arial MT"/>
              </a:rPr>
              <a:t>wireless,</a:t>
            </a:r>
            <a:r>
              <a:rPr sz="1000" spc="165" dirty="0">
                <a:latin typeface="Arial MT"/>
                <a:cs typeface="Arial MT"/>
              </a:rPr>
              <a:t> </a:t>
            </a:r>
            <a:r>
              <a:rPr sz="1000" dirty="0">
                <a:latin typeface="Arial MT"/>
                <a:cs typeface="Arial MT"/>
              </a:rPr>
              <a:t>or</a:t>
            </a:r>
            <a:r>
              <a:rPr sz="1000" spc="165" dirty="0">
                <a:latin typeface="Arial MT"/>
                <a:cs typeface="Arial MT"/>
              </a:rPr>
              <a:t> </a:t>
            </a:r>
            <a:r>
              <a:rPr sz="1000" dirty="0">
                <a:latin typeface="Arial MT"/>
                <a:cs typeface="Arial MT"/>
              </a:rPr>
              <a:t>optical</a:t>
            </a:r>
            <a:r>
              <a:rPr sz="1000" spc="160" dirty="0">
                <a:latin typeface="Arial MT"/>
                <a:cs typeface="Arial MT"/>
              </a:rPr>
              <a:t> </a:t>
            </a:r>
            <a:r>
              <a:rPr sz="1000" dirty="0">
                <a:latin typeface="Arial MT"/>
                <a:cs typeface="Arial MT"/>
              </a:rPr>
              <a:t>—</a:t>
            </a:r>
            <a:r>
              <a:rPr sz="1000" spc="165" dirty="0">
                <a:latin typeface="Arial MT"/>
                <a:cs typeface="Arial MT"/>
              </a:rPr>
              <a:t> </a:t>
            </a:r>
            <a:r>
              <a:rPr sz="1000" dirty="0">
                <a:latin typeface="Arial MT"/>
                <a:cs typeface="Arial MT"/>
              </a:rPr>
              <a:t>bit</a:t>
            </a:r>
            <a:r>
              <a:rPr sz="1000" spc="165" dirty="0">
                <a:latin typeface="Arial MT"/>
                <a:cs typeface="Arial MT"/>
              </a:rPr>
              <a:t> </a:t>
            </a:r>
            <a:r>
              <a:rPr sz="1000" dirty="0">
                <a:latin typeface="Arial MT"/>
                <a:cs typeface="Arial MT"/>
              </a:rPr>
              <a:t>errors</a:t>
            </a:r>
            <a:r>
              <a:rPr sz="1000" spc="165" dirty="0">
                <a:latin typeface="Arial MT"/>
                <a:cs typeface="Arial MT"/>
              </a:rPr>
              <a:t> </a:t>
            </a:r>
            <a:r>
              <a:rPr sz="1000" spc="-10" dirty="0">
                <a:latin typeface="Arial MT"/>
                <a:cs typeface="Arial MT"/>
              </a:rPr>
              <a:t>inevitably </a:t>
            </a:r>
            <a:r>
              <a:rPr sz="1000" dirty="0">
                <a:latin typeface="Arial MT"/>
                <a:cs typeface="Arial MT"/>
              </a:rPr>
              <a:t>occur</a:t>
            </a:r>
            <a:r>
              <a:rPr sz="1000" spc="229" dirty="0">
                <a:latin typeface="Arial MT"/>
                <a:cs typeface="Arial MT"/>
              </a:rPr>
              <a:t> </a:t>
            </a:r>
            <a:r>
              <a:rPr sz="1000" dirty="0">
                <a:latin typeface="Arial MT"/>
                <a:cs typeface="Arial MT"/>
              </a:rPr>
              <a:t>due</a:t>
            </a:r>
            <a:r>
              <a:rPr sz="1000" spc="235" dirty="0">
                <a:latin typeface="Arial MT"/>
                <a:cs typeface="Arial MT"/>
              </a:rPr>
              <a:t> </a:t>
            </a:r>
            <a:r>
              <a:rPr sz="1000" dirty="0">
                <a:latin typeface="Arial MT"/>
                <a:cs typeface="Arial MT"/>
              </a:rPr>
              <a:t>to</a:t>
            </a:r>
            <a:r>
              <a:rPr sz="1000" spc="235" dirty="0">
                <a:latin typeface="Arial MT"/>
                <a:cs typeface="Arial MT"/>
              </a:rPr>
              <a:t> </a:t>
            </a:r>
            <a:r>
              <a:rPr sz="1000" dirty="0">
                <a:latin typeface="Arial MT"/>
                <a:cs typeface="Arial MT"/>
              </a:rPr>
              <a:t>electromagnetic</a:t>
            </a:r>
            <a:r>
              <a:rPr sz="1000" spc="235" dirty="0">
                <a:latin typeface="Arial MT"/>
                <a:cs typeface="Arial MT"/>
              </a:rPr>
              <a:t> </a:t>
            </a:r>
            <a:r>
              <a:rPr sz="1000" dirty="0">
                <a:latin typeface="Arial MT"/>
                <a:cs typeface="Arial MT"/>
              </a:rPr>
              <a:t>interference,</a:t>
            </a:r>
            <a:r>
              <a:rPr sz="1000" spc="235" dirty="0">
                <a:latin typeface="Arial MT"/>
                <a:cs typeface="Arial MT"/>
              </a:rPr>
              <a:t> </a:t>
            </a:r>
            <a:r>
              <a:rPr lang="en-US" sz="1000" dirty="0"/>
              <a:t>Richard Hamming developed the </a:t>
            </a:r>
            <a:r>
              <a:rPr lang="en-US" sz="1000" b="1" dirty="0"/>
              <a:t>Hamming Code</a:t>
            </a:r>
            <a:r>
              <a:rPr lang="en-US" sz="1000" dirty="0"/>
              <a:t> in 1950 while working at Bell Labs. The idea came from the need to detect and correct errors occurring during data transmission and storage in computers and communication systems.</a:t>
            </a:r>
          </a:p>
          <a:p>
            <a:r>
              <a:rPr lang="en-US" sz="1000" dirty="0"/>
              <a:t>In digital communication, binary data (0s and 1s) can become corrupted because of:</a:t>
            </a:r>
          </a:p>
          <a:p>
            <a:r>
              <a:rPr lang="en-US" sz="1000" dirty="0"/>
              <a:t>Electrical noise </a:t>
            </a:r>
          </a:p>
          <a:p>
            <a:r>
              <a:rPr lang="en-US" sz="1000" dirty="0"/>
              <a:t>Signal interference </a:t>
            </a:r>
          </a:p>
          <a:p>
            <a:r>
              <a:rPr lang="en-US" sz="1000" dirty="0"/>
              <a:t>Hardware faults </a:t>
            </a:r>
          </a:p>
          <a:p>
            <a:r>
              <a:rPr lang="en-US" sz="1000" dirty="0"/>
              <a:t>Weak transmission channels </a:t>
            </a:r>
          </a:p>
          <a:p>
            <a:r>
              <a:rPr lang="en-US" sz="1000" dirty="0"/>
              <a:t>Even a single bit change can produce incorrect information. To improve reliability, error-control techniques are used.</a:t>
            </a:r>
          </a:p>
          <a:p>
            <a:pPr marL="12700" marR="5080" algn="just">
              <a:lnSpc>
                <a:spcPct val="116700"/>
              </a:lnSpc>
              <a:spcBef>
                <a:spcPts val="595"/>
              </a:spcBef>
            </a:pPr>
            <a:r>
              <a:rPr sz="1000" spc="-10" dirty="0">
                <a:latin typeface="Arial MT"/>
                <a:cs typeface="Arial MT"/>
              </a:rPr>
              <a:t>.</a:t>
            </a:r>
            <a:endParaRPr sz="1000" dirty="0">
              <a:latin typeface="Arial MT"/>
              <a:cs typeface="Arial MT"/>
            </a:endParaRPr>
          </a:p>
          <a:p>
            <a:pPr>
              <a:lnSpc>
                <a:spcPct val="100000"/>
              </a:lnSpc>
              <a:spcBef>
                <a:spcPts val="250"/>
              </a:spcBef>
            </a:pPr>
            <a:endParaRPr sz="1000" dirty="0">
              <a:latin typeface="Arial MT"/>
              <a:cs typeface="Arial MT"/>
            </a:endParaRPr>
          </a:p>
          <a:p>
            <a:pPr marL="244475" lvl="1" indent="-231775">
              <a:lnSpc>
                <a:spcPct val="100000"/>
              </a:lnSpc>
              <a:spcBef>
                <a:spcPts val="5"/>
              </a:spcBef>
              <a:buAutoNum type="arabicPeriod" startAt="2"/>
              <a:tabLst>
                <a:tab pos="244475" algn="l"/>
              </a:tabLst>
            </a:pPr>
            <a:r>
              <a:rPr sz="1100" b="1" dirty="0">
                <a:latin typeface="Arial"/>
                <a:cs typeface="Arial"/>
              </a:rPr>
              <a:t>Problem </a:t>
            </a:r>
            <a:r>
              <a:rPr sz="1100" b="1" spc="-10" dirty="0">
                <a:latin typeface="Arial"/>
                <a:cs typeface="Arial"/>
              </a:rPr>
              <a:t>Statement</a:t>
            </a:r>
            <a:endParaRPr sz="1100" dirty="0">
              <a:latin typeface="Arial"/>
              <a:cs typeface="Arial"/>
            </a:endParaRPr>
          </a:p>
          <a:p>
            <a:pPr marL="12700" algn="just">
              <a:lnSpc>
                <a:spcPct val="100000"/>
              </a:lnSpc>
              <a:spcBef>
                <a:spcPts val="680"/>
              </a:spcBef>
            </a:pPr>
            <a:r>
              <a:rPr sz="1000" dirty="0">
                <a:latin typeface="Arial MT"/>
                <a:cs typeface="Arial MT"/>
              </a:rPr>
              <a:t>In digital communication</a:t>
            </a:r>
            <a:r>
              <a:rPr sz="1000" spc="5" dirty="0">
                <a:latin typeface="Arial MT"/>
                <a:cs typeface="Arial MT"/>
              </a:rPr>
              <a:t> </a:t>
            </a:r>
            <a:r>
              <a:rPr sz="1000" dirty="0">
                <a:latin typeface="Arial MT"/>
                <a:cs typeface="Arial MT"/>
              </a:rPr>
              <a:t>systems, the</a:t>
            </a:r>
            <a:r>
              <a:rPr sz="1000" spc="5" dirty="0">
                <a:latin typeface="Arial MT"/>
                <a:cs typeface="Arial MT"/>
              </a:rPr>
              <a:t> </a:t>
            </a:r>
            <a:r>
              <a:rPr sz="1000" dirty="0">
                <a:latin typeface="Arial MT"/>
                <a:cs typeface="Arial MT"/>
              </a:rPr>
              <a:t>following key</a:t>
            </a:r>
            <a:r>
              <a:rPr sz="1000" spc="5" dirty="0">
                <a:latin typeface="Arial MT"/>
                <a:cs typeface="Arial MT"/>
              </a:rPr>
              <a:t> </a:t>
            </a:r>
            <a:r>
              <a:rPr sz="1000" dirty="0">
                <a:latin typeface="Arial MT"/>
                <a:cs typeface="Arial MT"/>
              </a:rPr>
              <a:t>problems motivate this</a:t>
            </a:r>
            <a:r>
              <a:rPr sz="1000" spc="5" dirty="0">
                <a:latin typeface="Arial MT"/>
                <a:cs typeface="Arial MT"/>
              </a:rPr>
              <a:t> </a:t>
            </a:r>
            <a:r>
              <a:rPr sz="1000" spc="-10" dirty="0">
                <a:latin typeface="Arial MT"/>
                <a:cs typeface="Arial MT"/>
              </a:rPr>
              <a:t>project:</a:t>
            </a:r>
            <a:endParaRPr sz="1000" dirty="0">
              <a:latin typeface="Arial MT"/>
              <a:cs typeface="Arial MT"/>
            </a:endParaRPr>
          </a:p>
          <a:p>
            <a:pPr marL="142875" lvl="2" indent="-79375">
              <a:lnSpc>
                <a:spcPct val="100000"/>
              </a:lnSpc>
              <a:spcBef>
                <a:spcPts val="800"/>
              </a:spcBef>
              <a:buChar char="•"/>
              <a:tabLst>
                <a:tab pos="142875" algn="l"/>
              </a:tabLst>
            </a:pPr>
            <a:r>
              <a:rPr sz="1000" dirty="0">
                <a:latin typeface="Arial MT"/>
                <a:cs typeface="Arial MT"/>
              </a:rPr>
              <a:t>Data corruption</a:t>
            </a:r>
            <a:r>
              <a:rPr sz="1000" spc="5" dirty="0">
                <a:latin typeface="Arial MT"/>
                <a:cs typeface="Arial MT"/>
              </a:rPr>
              <a:t> </a:t>
            </a:r>
            <a:r>
              <a:rPr sz="1000" dirty="0">
                <a:latin typeface="Arial MT"/>
                <a:cs typeface="Arial MT"/>
              </a:rPr>
              <a:t>occurs</a:t>
            </a:r>
            <a:r>
              <a:rPr sz="1000" spc="5" dirty="0">
                <a:latin typeface="Arial MT"/>
                <a:cs typeface="Arial MT"/>
              </a:rPr>
              <a:t> </a:t>
            </a:r>
            <a:r>
              <a:rPr sz="1000" dirty="0">
                <a:latin typeface="Arial MT"/>
                <a:cs typeface="Arial MT"/>
              </a:rPr>
              <a:t>due</a:t>
            </a:r>
            <a:r>
              <a:rPr sz="1000" spc="5" dirty="0">
                <a:latin typeface="Arial MT"/>
                <a:cs typeface="Arial MT"/>
              </a:rPr>
              <a:t> </a:t>
            </a:r>
            <a:r>
              <a:rPr sz="1000" dirty="0">
                <a:latin typeface="Arial MT"/>
                <a:cs typeface="Arial MT"/>
              </a:rPr>
              <a:t>to noise</a:t>
            </a:r>
            <a:r>
              <a:rPr sz="1000" spc="5" dirty="0">
                <a:latin typeface="Arial MT"/>
                <a:cs typeface="Arial MT"/>
              </a:rPr>
              <a:t> </a:t>
            </a:r>
            <a:r>
              <a:rPr sz="1000" dirty="0">
                <a:latin typeface="Arial MT"/>
                <a:cs typeface="Arial MT"/>
              </a:rPr>
              <a:t>and</a:t>
            </a:r>
            <a:r>
              <a:rPr sz="1000" spc="5" dirty="0">
                <a:latin typeface="Arial MT"/>
                <a:cs typeface="Arial MT"/>
              </a:rPr>
              <a:t> </a:t>
            </a:r>
            <a:r>
              <a:rPr sz="1000" dirty="0">
                <a:latin typeface="Arial MT"/>
                <a:cs typeface="Arial MT"/>
              </a:rPr>
              <a:t>electromagnetic</a:t>
            </a:r>
            <a:r>
              <a:rPr sz="1000" spc="5" dirty="0">
                <a:latin typeface="Arial MT"/>
                <a:cs typeface="Arial MT"/>
              </a:rPr>
              <a:t> </a:t>
            </a:r>
            <a:r>
              <a:rPr sz="1000" dirty="0">
                <a:latin typeface="Arial MT"/>
                <a:cs typeface="Arial MT"/>
              </a:rPr>
              <a:t>interference in</a:t>
            </a:r>
            <a:r>
              <a:rPr sz="1000" spc="5" dirty="0">
                <a:latin typeface="Arial MT"/>
                <a:cs typeface="Arial MT"/>
              </a:rPr>
              <a:t> </a:t>
            </a:r>
            <a:r>
              <a:rPr sz="1000" dirty="0">
                <a:latin typeface="Arial MT"/>
                <a:cs typeface="Arial MT"/>
              </a:rPr>
              <a:t>transmission</a:t>
            </a:r>
            <a:r>
              <a:rPr sz="1000" spc="5" dirty="0">
                <a:latin typeface="Arial MT"/>
                <a:cs typeface="Arial MT"/>
              </a:rPr>
              <a:t> </a:t>
            </a:r>
            <a:r>
              <a:rPr sz="1000" spc="-10" dirty="0">
                <a:latin typeface="Arial MT"/>
                <a:cs typeface="Arial MT"/>
              </a:rPr>
              <a:t>channels.</a:t>
            </a:r>
            <a:endParaRPr sz="1000" dirty="0">
              <a:latin typeface="Arial MT"/>
              <a:cs typeface="Arial MT"/>
            </a:endParaRPr>
          </a:p>
          <a:p>
            <a:pPr marL="142875" lvl="2" indent="-79375">
              <a:lnSpc>
                <a:spcPct val="100000"/>
              </a:lnSpc>
              <a:spcBef>
                <a:spcPts val="500"/>
              </a:spcBef>
              <a:buChar char="•"/>
              <a:tabLst>
                <a:tab pos="142875" algn="l"/>
              </a:tabLst>
            </a:pPr>
            <a:r>
              <a:rPr sz="1000" dirty="0">
                <a:latin typeface="Arial MT"/>
                <a:cs typeface="Arial MT"/>
              </a:rPr>
              <a:t>Simple</a:t>
            </a:r>
            <a:r>
              <a:rPr sz="1000" spc="-5" dirty="0">
                <a:latin typeface="Arial MT"/>
                <a:cs typeface="Arial MT"/>
              </a:rPr>
              <a:t> </a:t>
            </a:r>
            <a:r>
              <a:rPr sz="1000" dirty="0">
                <a:latin typeface="Arial MT"/>
                <a:cs typeface="Arial MT"/>
              </a:rPr>
              <a:t>parity methods can only</a:t>
            </a:r>
            <a:r>
              <a:rPr sz="1000" spc="-5" dirty="0">
                <a:latin typeface="Arial MT"/>
                <a:cs typeface="Arial MT"/>
              </a:rPr>
              <a:t> </a:t>
            </a:r>
            <a:r>
              <a:rPr sz="1000" dirty="0">
                <a:latin typeface="Arial MT"/>
                <a:cs typeface="Arial MT"/>
              </a:rPr>
              <a:t>detect errors but cannot locate</a:t>
            </a:r>
            <a:r>
              <a:rPr sz="1000" spc="-5" dirty="0">
                <a:latin typeface="Arial MT"/>
                <a:cs typeface="Arial MT"/>
              </a:rPr>
              <a:t> </a:t>
            </a:r>
            <a:r>
              <a:rPr sz="1000" dirty="0">
                <a:latin typeface="Arial MT"/>
                <a:cs typeface="Arial MT"/>
              </a:rPr>
              <a:t>or correct </a:t>
            </a:r>
            <a:r>
              <a:rPr sz="1000" spc="-10" dirty="0">
                <a:latin typeface="Arial MT"/>
                <a:cs typeface="Arial MT"/>
              </a:rPr>
              <a:t>them.</a:t>
            </a:r>
            <a:endParaRPr sz="1000" dirty="0">
              <a:latin typeface="Arial MT"/>
              <a:cs typeface="Arial MT"/>
            </a:endParaRPr>
          </a:p>
          <a:p>
            <a:pPr marL="142875" lvl="2" indent="-79375">
              <a:lnSpc>
                <a:spcPct val="100000"/>
              </a:lnSpc>
              <a:spcBef>
                <a:spcPts val="500"/>
              </a:spcBef>
              <a:buChar char="•"/>
              <a:tabLst>
                <a:tab pos="142875" algn="l"/>
              </a:tabLst>
            </a:pPr>
            <a:r>
              <a:rPr sz="1000" dirty="0">
                <a:latin typeface="Arial MT"/>
                <a:cs typeface="Arial MT"/>
              </a:rPr>
              <a:t>More</a:t>
            </a:r>
            <a:r>
              <a:rPr sz="1000" spc="-5" dirty="0">
                <a:latin typeface="Arial MT"/>
                <a:cs typeface="Arial MT"/>
              </a:rPr>
              <a:t> </a:t>
            </a:r>
            <a:r>
              <a:rPr sz="1000" dirty="0">
                <a:latin typeface="Arial MT"/>
                <a:cs typeface="Arial MT"/>
              </a:rPr>
              <a:t>complex ECC schemes exist but introduce</a:t>
            </a:r>
            <a:r>
              <a:rPr sz="1000" spc="-5" dirty="0">
                <a:latin typeface="Arial MT"/>
                <a:cs typeface="Arial MT"/>
              </a:rPr>
              <a:t> </a:t>
            </a:r>
            <a:r>
              <a:rPr sz="1000" dirty="0">
                <a:latin typeface="Arial MT"/>
                <a:cs typeface="Arial MT"/>
              </a:rPr>
              <a:t>significant hardware </a:t>
            </a:r>
            <a:r>
              <a:rPr sz="1000" spc="-10" dirty="0">
                <a:latin typeface="Arial MT"/>
                <a:cs typeface="Arial MT"/>
              </a:rPr>
              <a:t>overhead.</a:t>
            </a:r>
            <a:endParaRPr sz="1000" dirty="0">
              <a:latin typeface="Arial MT"/>
              <a:cs typeface="Arial MT"/>
            </a:endParaRPr>
          </a:p>
          <a:p>
            <a:pPr marL="142875" marR="103505" lvl="2" indent="-79375">
              <a:lnSpc>
                <a:spcPct val="116700"/>
              </a:lnSpc>
              <a:spcBef>
                <a:spcPts val="295"/>
              </a:spcBef>
              <a:buChar char="•"/>
              <a:tabLst>
                <a:tab pos="190500" algn="l"/>
              </a:tabLst>
            </a:pPr>
            <a:r>
              <a:rPr sz="1000" dirty="0">
                <a:latin typeface="Arial MT"/>
                <a:cs typeface="Arial MT"/>
              </a:rPr>
              <a:t>There is a need</a:t>
            </a:r>
            <a:r>
              <a:rPr sz="1000" spc="5" dirty="0">
                <a:latin typeface="Arial MT"/>
                <a:cs typeface="Arial MT"/>
              </a:rPr>
              <a:t> </a:t>
            </a:r>
            <a:r>
              <a:rPr sz="1000" dirty="0">
                <a:latin typeface="Arial MT"/>
                <a:cs typeface="Arial MT"/>
              </a:rPr>
              <a:t>for a system</a:t>
            </a:r>
            <a:r>
              <a:rPr sz="1000" spc="5" dirty="0">
                <a:latin typeface="Arial MT"/>
                <a:cs typeface="Arial MT"/>
              </a:rPr>
              <a:t> </a:t>
            </a:r>
            <a:r>
              <a:rPr sz="1000" dirty="0">
                <a:latin typeface="Arial MT"/>
                <a:cs typeface="Arial MT"/>
              </a:rPr>
              <a:t>that balances error</a:t>
            </a:r>
            <a:r>
              <a:rPr sz="1000" spc="5" dirty="0">
                <a:latin typeface="Arial MT"/>
                <a:cs typeface="Arial MT"/>
              </a:rPr>
              <a:t> </a:t>
            </a:r>
            <a:r>
              <a:rPr sz="1000" dirty="0">
                <a:latin typeface="Arial MT"/>
                <a:cs typeface="Arial MT"/>
              </a:rPr>
              <a:t>correction capability, hardware complexity,</a:t>
            </a:r>
            <a:r>
              <a:rPr sz="1000" spc="5" dirty="0">
                <a:latin typeface="Arial MT"/>
                <a:cs typeface="Arial MT"/>
              </a:rPr>
              <a:t> </a:t>
            </a:r>
            <a:r>
              <a:rPr sz="1000" spc="-25" dirty="0">
                <a:latin typeface="Arial MT"/>
                <a:cs typeface="Arial MT"/>
              </a:rPr>
              <a:t>and 	</a:t>
            </a:r>
            <a:r>
              <a:rPr sz="1000" dirty="0">
                <a:latin typeface="Arial MT"/>
                <a:cs typeface="Arial MT"/>
              </a:rPr>
              <a:t>processing speed — particularly for FPGA </a:t>
            </a:r>
            <a:r>
              <a:rPr sz="1000" spc="-10" dirty="0">
                <a:latin typeface="Arial MT"/>
                <a:cs typeface="Arial MT"/>
              </a:rPr>
              <a:t>deployment.</a:t>
            </a:r>
            <a:endParaRPr sz="1000" dirty="0">
              <a:latin typeface="Arial MT"/>
              <a:cs typeface="Arial MT"/>
            </a:endParaRPr>
          </a:p>
          <a:p>
            <a:pPr>
              <a:lnSpc>
                <a:spcPct val="100000"/>
              </a:lnSpc>
              <a:spcBef>
                <a:spcPts val="250"/>
              </a:spcBef>
            </a:pPr>
            <a:endParaRPr sz="1000" dirty="0">
              <a:latin typeface="Arial MT"/>
              <a:cs typeface="Arial MT"/>
            </a:endParaRPr>
          </a:p>
          <a:p>
            <a:pPr marL="12700">
              <a:lnSpc>
                <a:spcPct val="100000"/>
              </a:lnSpc>
            </a:pPr>
            <a:r>
              <a:rPr sz="1100" b="1" dirty="0">
                <a:latin typeface="Arial"/>
                <a:cs typeface="Arial"/>
              </a:rPr>
              <a:t>1.3 </a:t>
            </a:r>
            <a:r>
              <a:rPr sz="1100" b="1" spc="-10" dirty="0">
                <a:latin typeface="Arial"/>
                <a:cs typeface="Arial"/>
              </a:rPr>
              <a:t>Objectives</a:t>
            </a:r>
            <a:endParaRPr sz="1100" dirty="0">
              <a:latin typeface="Arial"/>
              <a:cs typeface="Arial"/>
            </a:endParaRPr>
          </a:p>
          <a:p>
            <a:pPr marL="12700" algn="just">
              <a:lnSpc>
                <a:spcPct val="100000"/>
              </a:lnSpc>
              <a:spcBef>
                <a:spcPts val="680"/>
              </a:spcBef>
            </a:pPr>
            <a:r>
              <a:rPr sz="1000" dirty="0">
                <a:latin typeface="Arial MT"/>
                <a:cs typeface="Arial MT"/>
              </a:rPr>
              <a:t>This project aims to achieve the </a:t>
            </a:r>
            <a:r>
              <a:rPr sz="1000" spc="-10" dirty="0">
                <a:latin typeface="Arial MT"/>
                <a:cs typeface="Arial MT"/>
              </a:rPr>
              <a:t>following:</a:t>
            </a:r>
            <a:endParaRPr sz="1000" dirty="0">
              <a:latin typeface="Arial MT"/>
              <a:cs typeface="Arial M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To understand the basic concept of Hamming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To learn how errors occur during data transmission.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To study the role of parity bits in error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To understand how single-bit errors can be corrected using Hamming Code.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dirty="0">
                <a:ln>
                  <a:noFill/>
                </a:ln>
                <a:solidFill>
                  <a:schemeClr val="tx1"/>
                </a:solidFill>
                <a:effectLst/>
                <a:latin typeface="Arial" panose="020B0604020202020204" pitchFamily="34" charset="0"/>
              </a:rPr>
              <a:t>To analyze the importance of error detection and correction in digital communication systems </a:t>
            </a:r>
            <a:r>
              <a:rPr sz="1000" spc="-10" dirty="0">
                <a:latin typeface="Arial MT"/>
                <a:cs typeface="Arial MT"/>
              </a:rPr>
              <a:t>.</a:t>
            </a:r>
            <a:endParaRPr sz="1000" dirty="0">
              <a:latin typeface="Arial MT"/>
              <a:cs typeface="Arial MT"/>
            </a:endParaRPr>
          </a:p>
          <a:p>
            <a:pPr>
              <a:lnSpc>
                <a:spcPct val="100000"/>
              </a:lnSpc>
              <a:spcBef>
                <a:spcPts val="850"/>
              </a:spcBef>
            </a:pPr>
            <a:endParaRPr sz="1000" dirty="0">
              <a:latin typeface="Arial MT"/>
              <a:cs typeface="Arial MT"/>
            </a:endParaRPr>
          </a:p>
          <a:p>
            <a:pPr marL="12700" algn="just">
              <a:lnSpc>
                <a:spcPct val="100000"/>
              </a:lnSpc>
            </a:pPr>
            <a:r>
              <a:rPr sz="1400" b="1" dirty="0">
                <a:latin typeface="Arial"/>
                <a:cs typeface="Arial"/>
              </a:rPr>
              <a:t>Chapter 2: Literature Review (Secondary </a:t>
            </a:r>
            <a:r>
              <a:rPr sz="1400" b="1" spc="-10" dirty="0">
                <a:latin typeface="Arial"/>
                <a:cs typeface="Arial"/>
              </a:rPr>
              <a:t>Research)</a:t>
            </a:r>
            <a:endParaRPr sz="1400" dirty="0">
              <a:latin typeface="Arial"/>
              <a:cs typeface="Arial"/>
            </a:endParaRPr>
          </a:p>
          <a:p>
            <a:pPr>
              <a:lnSpc>
                <a:spcPct val="100000"/>
              </a:lnSpc>
              <a:spcBef>
                <a:spcPts val="560"/>
              </a:spcBef>
            </a:pPr>
            <a:endParaRPr sz="1400" dirty="0">
              <a:latin typeface="Arial"/>
              <a:cs typeface="Arial"/>
            </a:endParaRPr>
          </a:p>
          <a:p>
            <a:pPr marL="12700">
              <a:lnSpc>
                <a:spcPct val="100000"/>
              </a:lnSpc>
            </a:pPr>
            <a:r>
              <a:rPr sz="1100" b="1" dirty="0">
                <a:latin typeface="Arial"/>
                <a:cs typeface="Arial"/>
              </a:rPr>
              <a:t>2.1 Review of Existing </a:t>
            </a:r>
            <a:r>
              <a:rPr sz="1100" b="1" spc="-20" dirty="0">
                <a:latin typeface="Arial"/>
                <a:cs typeface="Arial"/>
              </a:rPr>
              <a:t>Work</a:t>
            </a:r>
            <a:endParaRPr sz="1100" dirty="0">
              <a:latin typeface="Arial"/>
              <a:cs typeface="Arial"/>
            </a:endParaRPr>
          </a:p>
          <a:p>
            <a:pPr marL="12700" marR="5080" algn="just">
              <a:lnSpc>
                <a:spcPct val="116700"/>
              </a:lnSpc>
              <a:spcBef>
                <a:spcPts val="480"/>
              </a:spcBef>
            </a:pPr>
            <a:r>
              <a:rPr sz="1000" dirty="0">
                <a:latin typeface="Arial MT"/>
                <a:cs typeface="Arial MT"/>
              </a:rPr>
              <a:t>A systematic</a:t>
            </a:r>
            <a:r>
              <a:rPr sz="1000" spc="5" dirty="0">
                <a:latin typeface="Arial MT"/>
                <a:cs typeface="Arial MT"/>
              </a:rPr>
              <a:t> </a:t>
            </a:r>
            <a:r>
              <a:rPr sz="1000" dirty="0">
                <a:latin typeface="Arial MT"/>
                <a:cs typeface="Arial MT"/>
              </a:rPr>
              <a:t>review of</a:t>
            </a:r>
            <a:r>
              <a:rPr sz="1000" spc="5" dirty="0">
                <a:latin typeface="Arial MT"/>
                <a:cs typeface="Arial MT"/>
              </a:rPr>
              <a:t> </a:t>
            </a:r>
            <a:r>
              <a:rPr sz="1000" dirty="0">
                <a:latin typeface="Arial MT"/>
                <a:cs typeface="Arial MT"/>
              </a:rPr>
              <a:t>existing literature</a:t>
            </a:r>
            <a:r>
              <a:rPr sz="1000" spc="5" dirty="0">
                <a:latin typeface="Arial MT"/>
                <a:cs typeface="Arial MT"/>
              </a:rPr>
              <a:t> </a:t>
            </a:r>
            <a:r>
              <a:rPr sz="1000" dirty="0">
                <a:latin typeface="Arial MT"/>
                <a:cs typeface="Arial MT"/>
              </a:rPr>
              <a:t>on</a:t>
            </a:r>
            <a:r>
              <a:rPr sz="1000" spc="5" dirty="0">
                <a:latin typeface="Arial MT"/>
                <a:cs typeface="Arial MT"/>
              </a:rPr>
              <a:t> </a:t>
            </a:r>
            <a:r>
              <a:rPr sz="1000" dirty="0">
                <a:latin typeface="Arial MT"/>
                <a:cs typeface="Arial MT"/>
              </a:rPr>
              <a:t>Hamming code</a:t>
            </a:r>
            <a:r>
              <a:rPr sz="1000" spc="5" dirty="0">
                <a:latin typeface="Arial MT"/>
                <a:cs typeface="Arial MT"/>
              </a:rPr>
              <a:t> </a:t>
            </a:r>
            <a:r>
              <a:rPr sz="1000" dirty="0">
                <a:latin typeface="Arial MT"/>
                <a:cs typeface="Arial MT"/>
              </a:rPr>
              <a:t>implementations and</a:t>
            </a:r>
            <a:r>
              <a:rPr sz="1000" spc="5" dirty="0">
                <a:latin typeface="Arial MT"/>
                <a:cs typeface="Arial MT"/>
              </a:rPr>
              <a:t> </a:t>
            </a:r>
            <a:r>
              <a:rPr sz="1000" dirty="0">
                <a:latin typeface="Arial MT"/>
                <a:cs typeface="Arial MT"/>
              </a:rPr>
              <a:t>FPGA-based</a:t>
            </a:r>
            <a:r>
              <a:rPr sz="1000" spc="5" dirty="0">
                <a:latin typeface="Arial MT"/>
                <a:cs typeface="Arial MT"/>
              </a:rPr>
              <a:t> </a:t>
            </a:r>
            <a:r>
              <a:rPr sz="1000" spc="-10" dirty="0">
                <a:latin typeface="Arial MT"/>
                <a:cs typeface="Arial MT"/>
              </a:rPr>
              <a:t>error </a:t>
            </a:r>
            <a:r>
              <a:rPr sz="1000" dirty="0">
                <a:latin typeface="Arial MT"/>
                <a:cs typeface="Arial MT"/>
              </a:rPr>
              <a:t>correction</a:t>
            </a:r>
            <a:r>
              <a:rPr sz="1000" spc="-5" dirty="0">
                <a:latin typeface="Arial MT"/>
                <a:cs typeface="Arial MT"/>
              </a:rPr>
              <a:t> </a:t>
            </a:r>
            <a:r>
              <a:rPr sz="1000" dirty="0">
                <a:latin typeface="Arial MT"/>
                <a:cs typeface="Arial MT"/>
              </a:rPr>
              <a:t>systems was conducted.</a:t>
            </a:r>
            <a:r>
              <a:rPr sz="1000" spc="-5" dirty="0">
                <a:latin typeface="Arial MT"/>
                <a:cs typeface="Arial MT"/>
              </a:rPr>
              <a:t> </a:t>
            </a:r>
            <a:r>
              <a:rPr sz="1000" dirty="0">
                <a:latin typeface="Arial MT"/>
                <a:cs typeface="Arial MT"/>
              </a:rPr>
              <a:t>Three major categories of</a:t>
            </a:r>
            <a:r>
              <a:rPr sz="1000" spc="-5" dirty="0">
                <a:latin typeface="Arial MT"/>
                <a:cs typeface="Arial MT"/>
              </a:rPr>
              <a:t> </a:t>
            </a:r>
            <a:r>
              <a:rPr sz="1000" dirty="0">
                <a:latin typeface="Arial MT"/>
                <a:cs typeface="Arial MT"/>
              </a:rPr>
              <a:t>work were </a:t>
            </a:r>
            <a:r>
              <a:rPr sz="1000" spc="-10" dirty="0">
                <a:latin typeface="Arial MT"/>
                <a:cs typeface="Arial MT"/>
              </a:rPr>
              <a:t>identified:</a:t>
            </a:r>
            <a:endParaRPr sz="1000" dirty="0">
              <a:latin typeface="Arial MT"/>
              <a:cs typeface="Arial MT"/>
            </a:endParaRPr>
          </a:p>
          <a:p>
            <a:pPr marL="12700" algn="just">
              <a:lnSpc>
                <a:spcPct val="100000"/>
              </a:lnSpc>
              <a:spcBef>
                <a:spcPts val="800"/>
              </a:spcBef>
            </a:pPr>
            <a:r>
              <a:rPr sz="1000" b="1" dirty="0">
                <a:latin typeface="Arial"/>
                <a:cs typeface="Arial"/>
              </a:rPr>
              <a:t>Paper 1: Basic Hamming Code </a:t>
            </a:r>
            <a:r>
              <a:rPr sz="1000" b="1" spc="-10" dirty="0">
                <a:latin typeface="Arial"/>
                <a:cs typeface="Arial"/>
              </a:rPr>
              <a:t>Implementation</a:t>
            </a:r>
            <a:endParaRPr sz="1000" dirty="0">
              <a:latin typeface="Arial"/>
              <a:cs typeface="Arial"/>
            </a:endParaRPr>
          </a:p>
          <a:p>
            <a:pPr marL="12700" marR="5080" algn="just">
              <a:lnSpc>
                <a:spcPct val="116700"/>
              </a:lnSpc>
              <a:spcBef>
                <a:spcPts val="600"/>
              </a:spcBef>
            </a:pPr>
            <a:r>
              <a:rPr sz="1000" dirty="0">
                <a:latin typeface="Arial MT"/>
                <a:cs typeface="Arial MT"/>
              </a:rPr>
              <a:t>The</a:t>
            </a:r>
            <a:r>
              <a:rPr sz="1000" spc="65" dirty="0">
                <a:latin typeface="Arial MT"/>
                <a:cs typeface="Arial MT"/>
              </a:rPr>
              <a:t> </a:t>
            </a:r>
            <a:r>
              <a:rPr sz="1000" dirty="0">
                <a:latin typeface="Arial MT"/>
                <a:cs typeface="Arial MT"/>
              </a:rPr>
              <a:t>foundational</a:t>
            </a:r>
            <a:r>
              <a:rPr sz="1000" spc="70" dirty="0">
                <a:latin typeface="Arial MT"/>
                <a:cs typeface="Arial MT"/>
              </a:rPr>
              <a:t> </a:t>
            </a:r>
            <a:r>
              <a:rPr sz="1000" dirty="0">
                <a:latin typeface="Arial MT"/>
                <a:cs typeface="Arial MT"/>
              </a:rPr>
              <a:t>approach</a:t>
            </a:r>
            <a:r>
              <a:rPr sz="1000" spc="65" dirty="0">
                <a:latin typeface="Arial MT"/>
                <a:cs typeface="Arial MT"/>
              </a:rPr>
              <a:t> </a:t>
            </a:r>
            <a:r>
              <a:rPr sz="1000" dirty="0">
                <a:latin typeface="Arial MT"/>
                <a:cs typeface="Arial MT"/>
              </a:rPr>
              <a:t>uses</a:t>
            </a:r>
            <a:r>
              <a:rPr sz="1000" spc="70" dirty="0">
                <a:latin typeface="Arial MT"/>
                <a:cs typeface="Arial MT"/>
              </a:rPr>
              <a:t> </a:t>
            </a:r>
            <a:r>
              <a:rPr sz="1000" dirty="0">
                <a:latin typeface="Arial MT"/>
                <a:cs typeface="Arial MT"/>
              </a:rPr>
              <a:t>the</a:t>
            </a:r>
            <a:r>
              <a:rPr sz="1000" spc="65" dirty="0">
                <a:latin typeface="Arial MT"/>
                <a:cs typeface="Arial MT"/>
              </a:rPr>
              <a:t> </a:t>
            </a:r>
            <a:r>
              <a:rPr sz="1000" dirty="0">
                <a:latin typeface="Arial MT"/>
                <a:cs typeface="Arial MT"/>
              </a:rPr>
              <a:t>standard</a:t>
            </a:r>
            <a:r>
              <a:rPr sz="1000" spc="70" dirty="0">
                <a:latin typeface="Arial MT"/>
                <a:cs typeface="Arial MT"/>
              </a:rPr>
              <a:t> </a:t>
            </a:r>
            <a:r>
              <a:rPr sz="1000" dirty="0">
                <a:latin typeface="Arial MT"/>
                <a:cs typeface="Arial MT"/>
              </a:rPr>
              <a:t>(7,4)</a:t>
            </a:r>
            <a:r>
              <a:rPr sz="1000" spc="65" dirty="0">
                <a:latin typeface="Arial MT"/>
                <a:cs typeface="Arial MT"/>
              </a:rPr>
              <a:t> </a:t>
            </a:r>
            <a:r>
              <a:rPr sz="1000" dirty="0">
                <a:latin typeface="Arial MT"/>
                <a:cs typeface="Arial MT"/>
              </a:rPr>
              <a:t>Hamming</a:t>
            </a:r>
            <a:r>
              <a:rPr sz="1000" spc="70" dirty="0">
                <a:latin typeface="Arial MT"/>
                <a:cs typeface="Arial MT"/>
              </a:rPr>
              <a:t> </a:t>
            </a:r>
            <a:r>
              <a:rPr sz="1000" dirty="0">
                <a:latin typeface="Arial MT"/>
                <a:cs typeface="Arial MT"/>
              </a:rPr>
              <a:t>code</a:t>
            </a:r>
            <a:r>
              <a:rPr sz="1000" spc="65" dirty="0">
                <a:latin typeface="Arial MT"/>
                <a:cs typeface="Arial MT"/>
              </a:rPr>
              <a:t> </a:t>
            </a:r>
            <a:r>
              <a:rPr sz="1000" dirty="0">
                <a:latin typeface="Arial MT"/>
                <a:cs typeface="Arial MT"/>
              </a:rPr>
              <a:t>where</a:t>
            </a:r>
            <a:r>
              <a:rPr sz="1000" spc="70" dirty="0">
                <a:latin typeface="Arial MT"/>
                <a:cs typeface="Arial MT"/>
              </a:rPr>
              <a:t> </a:t>
            </a:r>
            <a:r>
              <a:rPr sz="1000" dirty="0">
                <a:latin typeface="Arial MT"/>
                <a:cs typeface="Arial MT"/>
              </a:rPr>
              <a:t>4</a:t>
            </a:r>
            <a:r>
              <a:rPr sz="1000" spc="70" dirty="0">
                <a:latin typeface="Arial MT"/>
                <a:cs typeface="Arial MT"/>
              </a:rPr>
              <a:t> </a:t>
            </a:r>
            <a:r>
              <a:rPr sz="1000" dirty="0">
                <a:latin typeface="Arial MT"/>
                <a:cs typeface="Arial MT"/>
              </a:rPr>
              <a:t>data</a:t>
            </a:r>
            <a:r>
              <a:rPr sz="1000" spc="65" dirty="0">
                <a:latin typeface="Arial MT"/>
                <a:cs typeface="Arial MT"/>
              </a:rPr>
              <a:t> </a:t>
            </a:r>
            <a:r>
              <a:rPr sz="1000" dirty="0">
                <a:latin typeface="Arial MT"/>
                <a:cs typeface="Arial MT"/>
              </a:rPr>
              <a:t>bits</a:t>
            </a:r>
            <a:r>
              <a:rPr sz="1000" spc="70" dirty="0">
                <a:latin typeface="Arial MT"/>
                <a:cs typeface="Arial MT"/>
              </a:rPr>
              <a:t> </a:t>
            </a:r>
            <a:r>
              <a:rPr sz="1000" dirty="0">
                <a:latin typeface="Arial MT"/>
                <a:cs typeface="Arial MT"/>
              </a:rPr>
              <a:t>are</a:t>
            </a:r>
            <a:r>
              <a:rPr sz="1000" spc="65" dirty="0">
                <a:latin typeface="Arial MT"/>
                <a:cs typeface="Arial MT"/>
              </a:rPr>
              <a:t> </a:t>
            </a:r>
            <a:r>
              <a:rPr sz="1000" spc="-10" dirty="0">
                <a:latin typeface="Arial MT"/>
                <a:cs typeface="Arial MT"/>
              </a:rPr>
              <a:t>encoded </a:t>
            </a:r>
            <a:r>
              <a:rPr sz="1000" dirty="0">
                <a:latin typeface="Arial MT"/>
                <a:cs typeface="Arial MT"/>
              </a:rPr>
              <a:t>into</a:t>
            </a:r>
            <a:r>
              <a:rPr sz="1000" spc="-15" dirty="0">
                <a:latin typeface="Arial MT"/>
                <a:cs typeface="Arial MT"/>
              </a:rPr>
              <a:t> </a:t>
            </a:r>
            <a:r>
              <a:rPr sz="1000" dirty="0">
                <a:latin typeface="Arial MT"/>
                <a:cs typeface="Arial MT"/>
              </a:rPr>
              <a:t>a</a:t>
            </a:r>
            <a:r>
              <a:rPr sz="1000" spc="-15" dirty="0">
                <a:latin typeface="Arial MT"/>
                <a:cs typeface="Arial MT"/>
              </a:rPr>
              <a:t> </a:t>
            </a:r>
            <a:r>
              <a:rPr sz="1000" dirty="0">
                <a:latin typeface="Arial MT"/>
                <a:cs typeface="Arial MT"/>
              </a:rPr>
              <a:t>7-bit</a:t>
            </a:r>
            <a:r>
              <a:rPr sz="1000" spc="-15" dirty="0">
                <a:latin typeface="Arial MT"/>
                <a:cs typeface="Arial MT"/>
              </a:rPr>
              <a:t> </a:t>
            </a:r>
            <a:r>
              <a:rPr sz="1000" dirty="0">
                <a:latin typeface="Arial MT"/>
                <a:cs typeface="Arial MT"/>
              </a:rPr>
              <a:t>codeword</a:t>
            </a:r>
            <a:r>
              <a:rPr sz="1000" spc="-15" dirty="0">
                <a:latin typeface="Arial MT"/>
                <a:cs typeface="Arial MT"/>
              </a:rPr>
              <a:t> </a:t>
            </a:r>
            <a:r>
              <a:rPr sz="1000" dirty="0">
                <a:latin typeface="Arial MT"/>
                <a:cs typeface="Arial MT"/>
              </a:rPr>
              <a:t>using</a:t>
            </a:r>
            <a:r>
              <a:rPr sz="1000" spc="-15" dirty="0">
                <a:latin typeface="Arial MT"/>
                <a:cs typeface="Arial MT"/>
              </a:rPr>
              <a:t> </a:t>
            </a:r>
            <a:r>
              <a:rPr sz="1000" dirty="0">
                <a:latin typeface="Arial MT"/>
                <a:cs typeface="Arial MT"/>
              </a:rPr>
              <a:t>3</a:t>
            </a:r>
            <a:r>
              <a:rPr sz="1000" spc="-15" dirty="0">
                <a:latin typeface="Arial MT"/>
                <a:cs typeface="Arial MT"/>
              </a:rPr>
              <a:t> </a:t>
            </a:r>
            <a:r>
              <a:rPr sz="1000" dirty="0">
                <a:latin typeface="Arial MT"/>
                <a:cs typeface="Arial MT"/>
              </a:rPr>
              <a:t>parity</a:t>
            </a:r>
            <a:r>
              <a:rPr sz="1000" spc="-15" dirty="0">
                <a:latin typeface="Arial MT"/>
                <a:cs typeface="Arial MT"/>
              </a:rPr>
              <a:t> </a:t>
            </a:r>
            <a:r>
              <a:rPr sz="1000" dirty="0">
                <a:latin typeface="Arial MT"/>
                <a:cs typeface="Arial MT"/>
              </a:rPr>
              <a:t>bits.</a:t>
            </a:r>
            <a:r>
              <a:rPr sz="1000" spc="-15" dirty="0">
                <a:latin typeface="Arial MT"/>
                <a:cs typeface="Arial MT"/>
              </a:rPr>
              <a:t> </a:t>
            </a:r>
            <a:r>
              <a:rPr sz="1000" spc="-10" dirty="0">
                <a:latin typeface="Arial MT"/>
                <a:cs typeface="Arial MT"/>
              </a:rPr>
              <a:t>,</a:t>
            </a:r>
            <a:endParaRPr sz="1000" dirty="0">
              <a:latin typeface="Arial MT"/>
              <a:cs typeface="Arial MT"/>
            </a:endParaRP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63500" y="938100"/>
            <a:ext cx="5634355" cy="5154232"/>
          </a:xfrm>
          <a:prstGeom prst="rect">
            <a:avLst/>
          </a:prstGeom>
        </p:spPr>
        <p:txBody>
          <a:bodyPr vert="horz" wrap="square" lIns="0" tIns="12700" rIns="0" bIns="0" rtlCol="0">
            <a:spAutoFit/>
          </a:bodyPr>
          <a:lstStyle/>
          <a:p>
            <a:pPr marL="12700" marR="5080" algn="just">
              <a:lnSpc>
                <a:spcPct val="116700"/>
              </a:lnSpc>
              <a:spcBef>
                <a:spcPts val="100"/>
              </a:spcBef>
            </a:pPr>
            <a:r>
              <a:rPr sz="1000" dirty="0">
                <a:latin typeface="Arial MT"/>
                <a:cs typeface="Arial MT"/>
              </a:rPr>
              <a:t>.</a:t>
            </a:r>
            <a:r>
              <a:rPr sz="1000" spc="50" dirty="0">
                <a:latin typeface="Arial MT"/>
                <a:cs typeface="Arial MT"/>
              </a:rPr>
              <a:t> </a:t>
            </a:r>
            <a:r>
              <a:rPr sz="1000" dirty="0">
                <a:latin typeface="Arial MT"/>
                <a:cs typeface="Arial MT"/>
              </a:rPr>
              <a:t>The</a:t>
            </a:r>
            <a:r>
              <a:rPr sz="1000" spc="55" dirty="0">
                <a:latin typeface="Arial MT"/>
                <a:cs typeface="Arial MT"/>
              </a:rPr>
              <a:t> </a:t>
            </a:r>
            <a:r>
              <a:rPr sz="1000" dirty="0">
                <a:latin typeface="Arial MT"/>
                <a:cs typeface="Arial MT"/>
              </a:rPr>
              <a:t>main</a:t>
            </a:r>
            <a:r>
              <a:rPr sz="1000" spc="50" dirty="0">
                <a:latin typeface="Arial MT"/>
                <a:cs typeface="Arial MT"/>
              </a:rPr>
              <a:t> </a:t>
            </a:r>
            <a:r>
              <a:rPr sz="1000" dirty="0">
                <a:latin typeface="Arial MT"/>
                <a:cs typeface="Arial MT"/>
              </a:rPr>
              <a:t>limitation</a:t>
            </a:r>
            <a:r>
              <a:rPr sz="1000" spc="50" dirty="0">
                <a:latin typeface="Arial MT"/>
                <a:cs typeface="Arial MT"/>
              </a:rPr>
              <a:t> </a:t>
            </a:r>
            <a:r>
              <a:rPr sz="1000" dirty="0">
                <a:latin typeface="Arial MT"/>
                <a:cs typeface="Arial MT"/>
              </a:rPr>
              <a:t>is</a:t>
            </a:r>
            <a:r>
              <a:rPr sz="1000" spc="50" dirty="0">
                <a:latin typeface="Arial MT"/>
                <a:cs typeface="Arial MT"/>
              </a:rPr>
              <a:t> </a:t>
            </a:r>
            <a:r>
              <a:rPr sz="1000" dirty="0">
                <a:latin typeface="Arial MT"/>
                <a:cs typeface="Arial MT"/>
              </a:rPr>
              <a:t>that</a:t>
            </a:r>
            <a:r>
              <a:rPr sz="1000" spc="50" dirty="0">
                <a:latin typeface="Arial MT"/>
                <a:cs typeface="Arial MT"/>
              </a:rPr>
              <a:t> </a:t>
            </a:r>
            <a:r>
              <a:rPr sz="1000" dirty="0">
                <a:latin typeface="Arial MT"/>
                <a:cs typeface="Arial MT"/>
              </a:rPr>
              <a:t>only</a:t>
            </a:r>
            <a:r>
              <a:rPr sz="1000" spc="50" dirty="0">
                <a:latin typeface="Arial MT"/>
                <a:cs typeface="Arial MT"/>
              </a:rPr>
              <a:t> </a:t>
            </a:r>
            <a:r>
              <a:rPr sz="1000" dirty="0">
                <a:latin typeface="Arial MT"/>
                <a:cs typeface="Arial MT"/>
              </a:rPr>
              <a:t>single-bit</a:t>
            </a:r>
            <a:r>
              <a:rPr sz="1000" spc="50" dirty="0">
                <a:latin typeface="Arial MT"/>
                <a:cs typeface="Arial MT"/>
              </a:rPr>
              <a:t> </a:t>
            </a:r>
            <a:r>
              <a:rPr sz="1000" spc="-10" dirty="0">
                <a:latin typeface="Arial MT"/>
                <a:cs typeface="Arial MT"/>
              </a:rPr>
              <a:t>error </a:t>
            </a:r>
            <a:r>
              <a:rPr sz="1000" dirty="0">
                <a:latin typeface="Arial MT"/>
                <a:cs typeface="Arial MT"/>
              </a:rPr>
              <a:t>correction</a:t>
            </a:r>
            <a:r>
              <a:rPr sz="1000" spc="355" dirty="0">
                <a:latin typeface="Arial MT"/>
                <a:cs typeface="Arial MT"/>
              </a:rPr>
              <a:t> </a:t>
            </a:r>
            <a:r>
              <a:rPr sz="1000" dirty="0">
                <a:latin typeface="Arial MT"/>
                <a:cs typeface="Arial MT"/>
              </a:rPr>
              <a:t>is</a:t>
            </a:r>
            <a:r>
              <a:rPr sz="1000" spc="355" dirty="0">
                <a:latin typeface="Arial MT"/>
                <a:cs typeface="Arial MT"/>
              </a:rPr>
              <a:t> </a:t>
            </a:r>
            <a:r>
              <a:rPr sz="1000" dirty="0">
                <a:latin typeface="Arial MT"/>
                <a:cs typeface="Arial MT"/>
              </a:rPr>
              <a:t>supported,</a:t>
            </a:r>
            <a:r>
              <a:rPr sz="1000" spc="360" dirty="0">
                <a:latin typeface="Arial MT"/>
                <a:cs typeface="Arial MT"/>
              </a:rPr>
              <a:t> </a:t>
            </a:r>
            <a:r>
              <a:rPr sz="1000" dirty="0">
                <a:latin typeface="Arial MT"/>
                <a:cs typeface="Arial MT"/>
              </a:rPr>
              <a:t>and</a:t>
            </a:r>
            <a:r>
              <a:rPr sz="1000" spc="355" dirty="0">
                <a:latin typeface="Arial MT"/>
                <a:cs typeface="Arial MT"/>
              </a:rPr>
              <a:t> </a:t>
            </a:r>
            <a:r>
              <a:rPr sz="1000" dirty="0">
                <a:latin typeface="Arial MT"/>
                <a:cs typeface="Arial MT"/>
              </a:rPr>
              <a:t>the</a:t>
            </a:r>
            <a:r>
              <a:rPr lang="en-US" sz="1000" dirty="0">
                <a:latin typeface="Arial MT"/>
                <a:cs typeface="Arial MT"/>
              </a:rPr>
              <a:t> syndromes are calculated in sequential </a:t>
            </a:r>
            <a:r>
              <a:rPr lang="en-US" sz="1000" dirty="0" err="1">
                <a:latin typeface="Arial MT"/>
                <a:cs typeface="Arial MT"/>
              </a:rPr>
              <a:t>order,this</a:t>
            </a:r>
            <a:r>
              <a:rPr sz="1000" spc="360" dirty="0">
                <a:latin typeface="Arial MT"/>
                <a:cs typeface="Arial MT"/>
              </a:rPr>
              <a:t> </a:t>
            </a:r>
            <a:r>
              <a:rPr sz="1000" dirty="0">
                <a:latin typeface="Arial MT"/>
                <a:cs typeface="Arial MT"/>
              </a:rPr>
              <a:t>sequential</a:t>
            </a:r>
            <a:r>
              <a:rPr sz="1000" spc="355" dirty="0">
                <a:latin typeface="Arial MT"/>
                <a:cs typeface="Arial MT"/>
              </a:rPr>
              <a:t> </a:t>
            </a:r>
            <a:r>
              <a:rPr sz="1000" dirty="0">
                <a:latin typeface="Arial MT"/>
                <a:cs typeface="Arial MT"/>
              </a:rPr>
              <a:t>syndrome</a:t>
            </a:r>
            <a:r>
              <a:rPr sz="1000" spc="355" dirty="0">
                <a:latin typeface="Arial MT"/>
                <a:cs typeface="Arial MT"/>
              </a:rPr>
              <a:t> </a:t>
            </a:r>
            <a:r>
              <a:rPr sz="1000" dirty="0">
                <a:latin typeface="Arial MT"/>
                <a:cs typeface="Arial MT"/>
              </a:rPr>
              <a:t>calculation</a:t>
            </a:r>
            <a:r>
              <a:rPr sz="1000" spc="360" dirty="0">
                <a:latin typeface="Arial MT"/>
                <a:cs typeface="Arial MT"/>
              </a:rPr>
              <a:t> </a:t>
            </a:r>
            <a:r>
              <a:rPr sz="1000" dirty="0">
                <a:latin typeface="Arial MT"/>
                <a:cs typeface="Arial MT"/>
              </a:rPr>
              <a:t>results</a:t>
            </a:r>
            <a:r>
              <a:rPr sz="1000" spc="355" dirty="0">
                <a:latin typeface="Arial MT"/>
                <a:cs typeface="Arial MT"/>
              </a:rPr>
              <a:t> </a:t>
            </a:r>
            <a:r>
              <a:rPr sz="1000" dirty="0">
                <a:latin typeface="Arial MT"/>
                <a:cs typeface="Arial MT"/>
              </a:rPr>
              <a:t>in</a:t>
            </a:r>
            <a:r>
              <a:rPr sz="1000" spc="360" dirty="0">
                <a:latin typeface="Arial MT"/>
                <a:cs typeface="Arial MT"/>
              </a:rPr>
              <a:t> </a:t>
            </a:r>
            <a:r>
              <a:rPr sz="1000" dirty="0">
                <a:latin typeface="Arial MT"/>
                <a:cs typeface="Arial MT"/>
              </a:rPr>
              <a:t>relatively</a:t>
            </a:r>
            <a:r>
              <a:rPr sz="1000" spc="355" dirty="0">
                <a:latin typeface="Arial MT"/>
                <a:cs typeface="Arial MT"/>
              </a:rPr>
              <a:t> </a:t>
            </a:r>
            <a:r>
              <a:rPr sz="1000" spc="-10" dirty="0">
                <a:latin typeface="Arial MT"/>
                <a:cs typeface="Arial MT"/>
              </a:rPr>
              <a:t>slower </a:t>
            </a:r>
            <a:r>
              <a:rPr sz="1000" dirty="0">
                <a:latin typeface="Arial MT"/>
                <a:cs typeface="Arial MT"/>
              </a:rPr>
              <a:t>processing </a:t>
            </a:r>
            <a:r>
              <a:rPr sz="1000" spc="-10" dirty="0">
                <a:latin typeface="Arial MT"/>
                <a:cs typeface="Arial MT"/>
              </a:rPr>
              <a:t>speed.</a:t>
            </a:r>
            <a:endParaRPr sz="1000" dirty="0">
              <a:latin typeface="Arial MT"/>
              <a:cs typeface="Arial MT"/>
            </a:endParaRPr>
          </a:p>
          <a:p>
            <a:pPr marL="142875" indent="-79375">
              <a:lnSpc>
                <a:spcPct val="100000"/>
              </a:lnSpc>
              <a:spcBef>
                <a:spcPts val="800"/>
              </a:spcBef>
              <a:buChar char="•"/>
              <a:tabLst>
                <a:tab pos="142875" algn="l"/>
              </a:tabLst>
            </a:pPr>
            <a:r>
              <a:rPr sz="1000" dirty="0">
                <a:latin typeface="Arial MT"/>
                <a:cs typeface="Arial MT"/>
              </a:rPr>
              <a:t>Strength:</a:t>
            </a:r>
            <a:r>
              <a:rPr sz="1000" spc="-10" dirty="0">
                <a:latin typeface="Arial MT"/>
                <a:cs typeface="Arial MT"/>
              </a:rPr>
              <a:t> </a:t>
            </a:r>
            <a:r>
              <a:rPr sz="1000" dirty="0">
                <a:latin typeface="Arial MT"/>
                <a:cs typeface="Arial MT"/>
              </a:rPr>
              <a:t>Minimal</a:t>
            </a:r>
            <a:r>
              <a:rPr sz="1000" spc="-5" dirty="0">
                <a:latin typeface="Arial MT"/>
                <a:cs typeface="Arial MT"/>
              </a:rPr>
              <a:t> </a:t>
            </a:r>
            <a:r>
              <a:rPr sz="1000" dirty="0">
                <a:latin typeface="Arial MT"/>
                <a:cs typeface="Arial MT"/>
              </a:rPr>
              <a:t>hardware</a:t>
            </a:r>
            <a:r>
              <a:rPr sz="1000" spc="-10" dirty="0">
                <a:latin typeface="Arial MT"/>
                <a:cs typeface="Arial MT"/>
              </a:rPr>
              <a:t> </a:t>
            </a:r>
            <a:r>
              <a:rPr sz="1000" dirty="0">
                <a:latin typeface="Arial MT"/>
                <a:cs typeface="Arial MT"/>
              </a:rPr>
              <a:t>resources,</a:t>
            </a:r>
            <a:r>
              <a:rPr sz="1000" spc="-5" dirty="0">
                <a:latin typeface="Arial MT"/>
                <a:cs typeface="Arial MT"/>
              </a:rPr>
              <a:t> </a:t>
            </a:r>
            <a:r>
              <a:rPr sz="1000" dirty="0">
                <a:latin typeface="Arial MT"/>
                <a:cs typeface="Arial MT"/>
              </a:rPr>
              <a:t>simple</a:t>
            </a:r>
            <a:r>
              <a:rPr sz="1000" spc="-5" dirty="0">
                <a:latin typeface="Arial MT"/>
                <a:cs typeface="Arial MT"/>
              </a:rPr>
              <a:t> </a:t>
            </a:r>
            <a:r>
              <a:rPr sz="1000" spc="-10" dirty="0">
                <a:latin typeface="Arial MT"/>
                <a:cs typeface="Arial MT"/>
              </a:rPr>
              <a:t>design.</a:t>
            </a:r>
            <a:endParaRPr sz="1000" dirty="0">
              <a:latin typeface="Arial MT"/>
              <a:cs typeface="Arial MT"/>
            </a:endParaRPr>
          </a:p>
          <a:p>
            <a:pPr marL="142875" indent="-79375">
              <a:lnSpc>
                <a:spcPct val="100000"/>
              </a:lnSpc>
              <a:spcBef>
                <a:spcPts val="500"/>
              </a:spcBef>
              <a:buChar char="•"/>
              <a:tabLst>
                <a:tab pos="142875" algn="l"/>
              </a:tabLst>
            </a:pPr>
            <a:r>
              <a:rPr sz="1000" dirty="0">
                <a:latin typeface="Arial MT"/>
                <a:cs typeface="Arial MT"/>
              </a:rPr>
              <a:t>Limitation: Slower speed; only corrects one-bit </a:t>
            </a:r>
            <a:r>
              <a:rPr sz="1000" spc="-10" dirty="0">
                <a:latin typeface="Arial MT"/>
                <a:cs typeface="Arial MT"/>
              </a:rPr>
              <a:t>errors.</a:t>
            </a:r>
            <a:endParaRPr lang="en-US" sz="1000" spc="-10" dirty="0">
              <a:latin typeface="Arial MT"/>
              <a:cs typeface="Arial MT"/>
            </a:endParaRPr>
          </a:p>
          <a:p>
            <a:pPr marL="142875" indent="-79375">
              <a:lnSpc>
                <a:spcPct val="100000"/>
              </a:lnSpc>
              <a:spcBef>
                <a:spcPts val="500"/>
              </a:spcBef>
              <a:buChar char="•"/>
              <a:tabLst>
                <a:tab pos="142875" algn="l"/>
              </a:tabLst>
            </a:pPr>
            <a:endParaRPr sz="1000" dirty="0">
              <a:latin typeface="Arial MT"/>
              <a:cs typeface="Arial MT"/>
            </a:endParaRPr>
          </a:p>
          <a:p>
            <a:pPr marL="12700" algn="just">
              <a:lnSpc>
                <a:spcPct val="100000"/>
              </a:lnSpc>
              <a:spcBef>
                <a:spcPts val="1100"/>
              </a:spcBef>
            </a:pPr>
            <a:r>
              <a:rPr sz="1000" b="1" dirty="0">
                <a:latin typeface="Arial"/>
                <a:cs typeface="Arial"/>
              </a:rPr>
              <a:t>Paper 2: FPGA-Based Error Correction </a:t>
            </a:r>
            <a:r>
              <a:rPr sz="1000" b="1" spc="-10" dirty="0">
                <a:latin typeface="Arial"/>
                <a:cs typeface="Arial"/>
              </a:rPr>
              <a:t>System</a:t>
            </a:r>
            <a:endParaRPr lang="en-US" sz="1000" dirty="0">
              <a:latin typeface="Arial"/>
              <a:cs typeface="Arial"/>
            </a:endParaRPr>
          </a:p>
          <a:p>
            <a:pPr marL="12700" marR="5080" algn="just">
              <a:lnSpc>
                <a:spcPct val="116700"/>
              </a:lnSpc>
              <a:spcBef>
                <a:spcPts val="600"/>
              </a:spcBef>
            </a:pPr>
            <a:r>
              <a:rPr lang="en-US" sz="1000" dirty="0"/>
              <a:t>An encoder is a digital tool that takes your original data and adds extra "helper bits" to create a protected package. These extra bits follow a mathematical rule so the receiver can spot if a mistake happened during the trip. It essentially builds a secret map that allows the computer to find and fix any broken pieces of information.</a:t>
            </a:r>
            <a:r>
              <a:rPr sz="1000" spc="-10" dirty="0">
                <a:latin typeface="Arial MT"/>
                <a:cs typeface="Arial MT"/>
              </a:rPr>
              <a:t>.</a:t>
            </a:r>
            <a:endParaRPr lang="en-US" sz="1000" spc="-10" dirty="0">
              <a:latin typeface="Arial MT"/>
              <a:cs typeface="Arial MT"/>
            </a:endParaRPr>
          </a:p>
          <a:p>
            <a:pPr marL="12700" marR="5080" algn="just">
              <a:lnSpc>
                <a:spcPct val="116700"/>
              </a:lnSpc>
              <a:spcBef>
                <a:spcPts val="600"/>
              </a:spcBef>
            </a:pPr>
            <a:endParaRPr sz="1000" dirty="0">
              <a:latin typeface="Arial MT"/>
              <a:cs typeface="Arial MT"/>
            </a:endParaRPr>
          </a:p>
          <a:p>
            <a:pPr marL="12700" algn="just">
              <a:lnSpc>
                <a:spcPct val="100000"/>
              </a:lnSpc>
              <a:spcBef>
                <a:spcPts val="1100"/>
              </a:spcBef>
            </a:pPr>
            <a:r>
              <a:rPr lang="en-US" sz="1000" b="1" dirty="0"/>
              <a:t>Paper 3: Building a Digital Fixer</a:t>
            </a:r>
            <a:r>
              <a:rPr lang="en-US" sz="1000" dirty="0"/>
              <a:t> This paper is more like a DIY project where the authors actually built a "fixer" machine using a special chip called a CPLD. They explain a specific version called the "(7, 4) Hamming Code," where they take 4 bits of real data and add 3 "helper" bits (parity bits) to make a 7-bit package. They show that this method is very fast and reliable for modern electronics like CD players or cell phones.</a:t>
            </a:r>
          </a:p>
          <a:p>
            <a:pPr marL="12700" algn="just">
              <a:lnSpc>
                <a:spcPct val="100000"/>
              </a:lnSpc>
              <a:spcBef>
                <a:spcPts val="1100"/>
              </a:spcBef>
            </a:pPr>
            <a:endParaRPr sz="1000" dirty="0">
              <a:latin typeface="Arial MT"/>
              <a:cs typeface="Arial MT"/>
            </a:endParaRPr>
          </a:p>
          <a:p>
            <a:pPr marL="12700">
              <a:lnSpc>
                <a:spcPct val="100000"/>
              </a:lnSpc>
            </a:pPr>
            <a:r>
              <a:rPr sz="1100" b="1" dirty="0">
                <a:latin typeface="Arial"/>
                <a:cs typeface="Arial"/>
              </a:rPr>
              <a:t>2.2 Comparative </a:t>
            </a:r>
            <a:r>
              <a:rPr sz="1100" b="1" spc="-10" dirty="0">
                <a:latin typeface="Arial"/>
                <a:cs typeface="Arial"/>
              </a:rPr>
              <a:t>Analysis</a:t>
            </a:r>
            <a:endParaRPr lang="en-US" sz="1100" b="1" spc="-10" dirty="0">
              <a:latin typeface="Arial"/>
              <a:cs typeface="Arial"/>
            </a:endParaRPr>
          </a:p>
          <a:p>
            <a:pPr marL="12700" rtl="0"/>
            <a:r>
              <a:rPr lang="en-US" sz="1100" dirty="0">
                <a:effectLst/>
              </a:rPr>
              <a:t>These three papers examine Hamming codes through mathematical logic, theoretical redundancy systems, and physical hardware implementation on CPLD chips. They focus on correcting single-bit errors but overlook "burst errors" where multiple pieces of data fail simultaneously. Future research is needed to improve battery efficiency for mobile devices and protect these systems from intentional security hacking.</a:t>
            </a:r>
          </a:p>
          <a:p>
            <a:pPr marL="12700">
              <a:lnSpc>
                <a:spcPct val="100000"/>
              </a:lnSpc>
            </a:pPr>
            <a:endParaRPr lang="en-US" sz="1100" b="1" spc="-10" dirty="0">
              <a:latin typeface="Arial"/>
              <a:cs typeface="Arial"/>
            </a:endParaRPr>
          </a:p>
          <a:p>
            <a:pPr marL="12700">
              <a:lnSpc>
                <a:spcPct val="100000"/>
              </a:lnSpc>
            </a:pPr>
            <a:endParaRPr sz="1100" dirty="0">
              <a:latin typeface="Arial"/>
              <a:cs typeface="Arial"/>
            </a:endParaRPr>
          </a:p>
        </p:txBody>
      </p:sp>
      <p:sp>
        <p:nvSpPr>
          <p:cNvPr id="4" name="object 4"/>
          <p:cNvSpPr txBox="1"/>
          <p:nvPr/>
        </p:nvSpPr>
        <p:spPr>
          <a:xfrm>
            <a:off x="806450" y="6092332"/>
            <a:ext cx="5791405" cy="1939633"/>
          </a:xfrm>
          <a:prstGeom prst="rect">
            <a:avLst/>
          </a:prstGeom>
        </p:spPr>
        <p:txBody>
          <a:bodyPr vert="horz" wrap="square" lIns="0" tIns="107314" rIns="0" bIns="0" rtlCol="0">
            <a:spAutoFit/>
          </a:bodyPr>
          <a:lstStyle/>
          <a:p>
            <a:pPr marL="12700">
              <a:lnSpc>
                <a:spcPct val="100000"/>
              </a:lnSpc>
              <a:spcBef>
                <a:spcPts val="844"/>
              </a:spcBef>
            </a:pPr>
            <a:r>
              <a:rPr sz="1100" b="1" dirty="0">
                <a:latin typeface="Arial"/>
                <a:cs typeface="Arial"/>
              </a:rPr>
              <a:t>2.3</a:t>
            </a:r>
            <a:r>
              <a:rPr sz="1100" b="1" spc="-20" dirty="0">
                <a:latin typeface="Arial"/>
                <a:cs typeface="Arial"/>
              </a:rPr>
              <a:t> </a:t>
            </a:r>
            <a:r>
              <a:rPr sz="1100" b="1" dirty="0">
                <a:latin typeface="Arial"/>
                <a:cs typeface="Arial"/>
              </a:rPr>
              <a:t>Research</a:t>
            </a:r>
            <a:r>
              <a:rPr sz="1100" b="1" spc="-15" dirty="0">
                <a:latin typeface="Arial"/>
                <a:cs typeface="Arial"/>
              </a:rPr>
              <a:t> </a:t>
            </a:r>
            <a:r>
              <a:rPr sz="1100" b="1" dirty="0">
                <a:latin typeface="Arial"/>
                <a:cs typeface="Arial"/>
              </a:rPr>
              <a:t>Gap</a:t>
            </a:r>
            <a:r>
              <a:rPr sz="1100" b="1" spc="-15" dirty="0">
                <a:latin typeface="Arial"/>
                <a:cs typeface="Arial"/>
              </a:rPr>
              <a:t> </a:t>
            </a:r>
            <a:r>
              <a:rPr sz="1100" b="1" spc="-10" dirty="0">
                <a:latin typeface="Arial"/>
                <a:cs typeface="Arial"/>
              </a:rPr>
              <a:t>Identification</a:t>
            </a:r>
            <a:endParaRPr lang="en-US" sz="1100" b="1" spc="-10" dirty="0">
              <a:latin typeface="Arial"/>
              <a:cs typeface="Arial"/>
            </a:endParaRPr>
          </a:p>
          <a:p>
            <a:pPr marL="12700">
              <a:lnSpc>
                <a:spcPct val="100000"/>
              </a:lnSpc>
              <a:spcBef>
                <a:spcPts val="844"/>
              </a:spcBef>
            </a:pPr>
            <a:r>
              <a:rPr lang="en-US" sz="1100" dirty="0"/>
              <a:t>These papers focus almost entirely on </a:t>
            </a:r>
            <a:r>
              <a:rPr lang="en-US" sz="1100" b="1" dirty="0"/>
              <a:t>Single Error Correction (SEC)</a:t>
            </a:r>
            <a:r>
              <a:rPr lang="en-US" sz="1100" dirty="0"/>
              <a:t>. In real-world high-speed networks, errors often happen in "bursts" (many bits at once), which standard Hamming code cannot fix</a:t>
            </a:r>
          </a:p>
          <a:p>
            <a:pPr marL="12700">
              <a:lnSpc>
                <a:spcPct val="100000"/>
              </a:lnSpc>
              <a:spcBef>
                <a:spcPts val="844"/>
              </a:spcBef>
            </a:pPr>
            <a:r>
              <a:rPr lang="en-US" sz="1100" dirty="0"/>
              <a:t>Although Paper 3 discusses hardware, it does not measure how much </a:t>
            </a:r>
            <a:r>
              <a:rPr lang="en-US" sz="1100" b="1" dirty="0"/>
              <a:t>battery power</a:t>
            </a:r>
            <a:r>
              <a:rPr lang="en-US" sz="1100" dirty="0"/>
              <a:t> the error correction process uses, which is critical for mobile devices and IoT sensors</a:t>
            </a:r>
          </a:p>
          <a:p>
            <a:pPr marL="12700">
              <a:lnSpc>
                <a:spcPct val="100000"/>
              </a:lnSpc>
              <a:spcBef>
                <a:spcPts val="844"/>
              </a:spcBef>
            </a:pPr>
            <a:r>
              <a:rPr lang="en-US" sz="1100" b="1" dirty="0"/>
              <a:t>Security Gaps:</a:t>
            </a:r>
            <a:r>
              <a:rPr lang="en-US" sz="1100" dirty="0"/>
              <a:t> The papers treat errors as accidental "noise". There is little discussion on </a:t>
            </a:r>
            <a:r>
              <a:rPr lang="en-US" sz="1100" b="1" dirty="0"/>
              <a:t>intentional errors</a:t>
            </a:r>
            <a:r>
              <a:rPr lang="en-US" sz="1100" dirty="0"/>
              <a:t> (hacking), where someone might purposefully flip bits to corrupt a message or bypass security.</a:t>
            </a:r>
            <a:endParaRPr sz="1100" dirty="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56A9605-3832-D335-5C74-9E26FA30267E}"/>
              </a:ext>
            </a:extLst>
          </p:cNvPr>
          <p:cNvSpPr txBox="1"/>
          <p:nvPr/>
        </p:nvSpPr>
        <p:spPr>
          <a:xfrm>
            <a:off x="501650" y="165100"/>
            <a:ext cx="6781800" cy="1200329"/>
          </a:xfrm>
          <a:prstGeom prst="rect">
            <a:avLst/>
          </a:prstGeom>
          <a:noFill/>
        </p:spPr>
        <p:txBody>
          <a:bodyPr wrap="square" rtlCol="0">
            <a:spAutoFit/>
          </a:bodyPr>
          <a:lstStyle/>
          <a:p>
            <a:r>
              <a:rPr lang="en-US" b="1" dirty="0"/>
              <a:t>Design Justification </a:t>
            </a:r>
          </a:p>
          <a:p>
            <a:r>
              <a:rPr lang="en-US" dirty="0"/>
              <a:t>The block diagram was selected because it provides a systematic way in which the hamming encoder and decoder actually works .it has made the conceptual learning easy.</a:t>
            </a:r>
          </a:p>
        </p:txBody>
      </p:sp>
      <p:pic>
        <p:nvPicPr>
          <p:cNvPr id="14" name="Picture 13">
            <a:extLst>
              <a:ext uri="{FF2B5EF4-FFF2-40B4-BE49-F238E27FC236}">
                <a16:creationId xmlns:a16="http://schemas.microsoft.com/office/drawing/2014/main" id="{05877CFF-3C12-29CD-FEAE-022B6B172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175" y="4737100"/>
            <a:ext cx="7016750" cy="4572000"/>
          </a:xfrm>
          <a:prstGeom prst="rect">
            <a:avLst/>
          </a:prstGeom>
        </p:spPr>
      </p:pic>
    </p:spTree>
    <p:extLst>
      <p:ext uri="{BB962C8B-B14F-4D97-AF65-F5344CB8AC3E}">
        <p14:creationId xmlns:p14="http://schemas.microsoft.com/office/powerpoint/2010/main" val="1383038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B363D5D-62BD-9B15-585D-1330DC80559A}"/>
              </a:ext>
            </a:extLst>
          </p:cNvPr>
          <p:cNvPicPr>
            <a:picLocks noChangeAspect="1"/>
          </p:cNvPicPr>
          <p:nvPr/>
        </p:nvPicPr>
        <p:blipFill>
          <a:blip r:embed="rId2"/>
          <a:stretch>
            <a:fillRect/>
          </a:stretch>
        </p:blipFill>
        <p:spPr>
          <a:xfrm>
            <a:off x="463550" y="560387"/>
            <a:ext cx="6629400" cy="9572625"/>
          </a:xfrm>
          <a:prstGeom prst="rect">
            <a:avLst/>
          </a:prstGeom>
        </p:spPr>
      </p:pic>
    </p:spTree>
    <p:extLst>
      <p:ext uri="{BB962C8B-B14F-4D97-AF65-F5344CB8AC3E}">
        <p14:creationId xmlns:p14="http://schemas.microsoft.com/office/powerpoint/2010/main" val="2759804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15DFCC8B-E611-C161-AE66-81238EA480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729" y="4889500"/>
            <a:ext cx="6420746" cy="4039164"/>
          </a:xfrm>
          <a:prstGeom prst="rect">
            <a:avLst/>
          </a:prstGeom>
        </p:spPr>
      </p:pic>
      <p:pic>
        <p:nvPicPr>
          <p:cNvPr id="32" name="Picture 31">
            <a:extLst>
              <a:ext uri="{FF2B5EF4-FFF2-40B4-BE49-F238E27FC236}">
                <a16:creationId xmlns:a16="http://schemas.microsoft.com/office/drawing/2014/main" id="{C5435D8A-6CD8-D5FD-9441-72688656B6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8" y="1079500"/>
            <a:ext cx="6363588" cy="2800741"/>
          </a:xfrm>
          <a:prstGeom prst="rect">
            <a:avLst/>
          </a:prstGeom>
        </p:spPr>
      </p:pic>
      <p:sp>
        <p:nvSpPr>
          <p:cNvPr id="33" name="TextBox 32">
            <a:extLst>
              <a:ext uri="{FF2B5EF4-FFF2-40B4-BE49-F238E27FC236}">
                <a16:creationId xmlns:a16="http://schemas.microsoft.com/office/drawing/2014/main" id="{E2764A92-9D3D-29EE-99C8-308E3BF971F7}"/>
              </a:ext>
            </a:extLst>
          </p:cNvPr>
          <p:cNvSpPr txBox="1"/>
          <p:nvPr/>
        </p:nvSpPr>
        <p:spPr>
          <a:xfrm>
            <a:off x="273050" y="205539"/>
            <a:ext cx="6392167" cy="369332"/>
          </a:xfrm>
          <a:prstGeom prst="rect">
            <a:avLst/>
          </a:prstGeom>
          <a:noFill/>
        </p:spPr>
        <p:txBody>
          <a:bodyPr wrap="square" rtlCol="0">
            <a:spAutoFit/>
          </a:bodyPr>
          <a:lstStyle/>
          <a:p>
            <a:r>
              <a:rPr lang="en-US" b="1" dirty="0"/>
              <a:t>Leaf cell simulation</a:t>
            </a:r>
            <a:endParaRPr lang="en-IN" b="1" dirty="0"/>
          </a:p>
        </p:txBody>
      </p:sp>
    </p:spTree>
    <p:extLst>
      <p:ext uri="{BB962C8B-B14F-4D97-AF65-F5344CB8AC3E}">
        <p14:creationId xmlns:p14="http://schemas.microsoft.com/office/powerpoint/2010/main" val="3737709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2AEC4BA-3B99-7160-6E51-599BB7410CD0}"/>
              </a:ext>
            </a:extLst>
          </p:cNvPr>
          <p:cNvPicPr>
            <a:picLocks noChangeAspect="1"/>
          </p:cNvPicPr>
          <p:nvPr/>
        </p:nvPicPr>
        <p:blipFill>
          <a:blip r:embed="rId2"/>
          <a:stretch>
            <a:fillRect/>
          </a:stretch>
        </p:blipFill>
        <p:spPr>
          <a:xfrm>
            <a:off x="152400" y="393700"/>
            <a:ext cx="7251700" cy="4343400"/>
          </a:xfrm>
          <a:prstGeom prst="rect">
            <a:avLst/>
          </a:prstGeom>
        </p:spPr>
      </p:pic>
      <p:pic>
        <p:nvPicPr>
          <p:cNvPr id="30" name="Picture 29">
            <a:extLst>
              <a:ext uri="{FF2B5EF4-FFF2-40B4-BE49-F238E27FC236}">
                <a16:creationId xmlns:a16="http://schemas.microsoft.com/office/drawing/2014/main" id="{6741746F-26B1-50A7-6D05-BFC97F1074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5194300"/>
            <a:ext cx="7131050" cy="4953000"/>
          </a:xfrm>
          <a:prstGeom prst="rect">
            <a:avLst/>
          </a:prstGeom>
        </p:spPr>
      </p:pic>
    </p:spTree>
    <p:extLst>
      <p:ext uri="{BB962C8B-B14F-4D97-AF65-F5344CB8AC3E}">
        <p14:creationId xmlns:p14="http://schemas.microsoft.com/office/powerpoint/2010/main" val="848733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2B4B0C-67E6-1689-6739-570A7D20201B}"/>
              </a:ext>
            </a:extLst>
          </p:cNvPr>
          <p:cNvPicPr>
            <a:picLocks noChangeAspect="1"/>
          </p:cNvPicPr>
          <p:nvPr/>
        </p:nvPicPr>
        <p:blipFill>
          <a:blip r:embed="rId2"/>
          <a:stretch>
            <a:fillRect/>
          </a:stretch>
        </p:blipFill>
        <p:spPr>
          <a:xfrm>
            <a:off x="152400" y="4584700"/>
            <a:ext cx="7251700" cy="5562600"/>
          </a:xfrm>
          <a:prstGeom prst="rect">
            <a:avLst/>
          </a:prstGeom>
        </p:spPr>
      </p:pic>
      <p:pic>
        <p:nvPicPr>
          <p:cNvPr id="20" name="Picture 19">
            <a:extLst>
              <a:ext uri="{FF2B5EF4-FFF2-40B4-BE49-F238E27FC236}">
                <a16:creationId xmlns:a16="http://schemas.microsoft.com/office/drawing/2014/main" id="{2AD260BE-69D3-952B-B0BD-18643A04D5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587" y="345483"/>
            <a:ext cx="6449325" cy="4239217"/>
          </a:xfrm>
          <a:prstGeom prst="rect">
            <a:avLst/>
          </a:prstGeom>
        </p:spPr>
      </p:pic>
    </p:spTree>
    <p:extLst>
      <p:ext uri="{BB962C8B-B14F-4D97-AF65-F5344CB8AC3E}">
        <p14:creationId xmlns:p14="http://schemas.microsoft.com/office/powerpoint/2010/main" val="3179695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963500" y="963500"/>
            <a:ext cx="5633720" cy="4262705"/>
          </a:xfrm>
          <a:prstGeom prst="rect">
            <a:avLst/>
          </a:prstGeom>
        </p:spPr>
        <p:txBody>
          <a:bodyPr vert="horz" wrap="square" lIns="0" tIns="12700" rIns="0" bIns="0" rtlCol="0">
            <a:spAutoFit/>
          </a:bodyPr>
          <a:lstStyle/>
          <a:p>
            <a:pPr marL="142875" indent="-79375">
              <a:lnSpc>
                <a:spcPct val="100000"/>
              </a:lnSpc>
              <a:spcBef>
                <a:spcPts val="500"/>
              </a:spcBef>
              <a:buChar char="•"/>
              <a:tabLst>
                <a:tab pos="142875" algn="l"/>
              </a:tabLst>
            </a:pPr>
            <a:endParaRPr lang="en-IN" sz="1000" spc="-10" dirty="0">
              <a:latin typeface="Arial MT"/>
              <a:cs typeface="Arial MT"/>
            </a:endParaRPr>
          </a:p>
          <a:p>
            <a:pPr marL="12700">
              <a:lnSpc>
                <a:spcPct val="100000"/>
              </a:lnSpc>
            </a:pPr>
            <a:r>
              <a:rPr lang="en-IN" sz="1400" b="1" spc="-10" dirty="0">
                <a:latin typeface="Arial"/>
                <a:cs typeface="Arial"/>
              </a:rPr>
              <a:t>References</a:t>
            </a:r>
            <a:endParaRPr lang="en-IN" sz="1400" dirty="0">
              <a:latin typeface="Arial"/>
              <a:cs typeface="Arial"/>
            </a:endParaRPr>
          </a:p>
          <a:p>
            <a:pPr marL="12700" marR="5080" indent="185420" algn="just">
              <a:lnSpc>
                <a:spcPct val="116700"/>
              </a:lnSpc>
              <a:spcBef>
                <a:spcPts val="1570"/>
              </a:spcBef>
              <a:buAutoNum type="arabicPlain"/>
              <a:tabLst>
                <a:tab pos="198120" algn="l"/>
              </a:tabLst>
            </a:pPr>
            <a:r>
              <a:rPr lang="en-IN" sz="1000" dirty="0">
                <a:latin typeface="Arial MT"/>
                <a:cs typeface="Arial MT"/>
              </a:rPr>
              <a:t>R.</a:t>
            </a:r>
            <a:r>
              <a:rPr lang="en-IN" sz="1000" spc="70" dirty="0">
                <a:latin typeface="Arial MT"/>
                <a:cs typeface="Arial MT"/>
              </a:rPr>
              <a:t> </a:t>
            </a:r>
            <a:r>
              <a:rPr lang="en-IN" sz="1000" dirty="0">
                <a:latin typeface="Arial MT"/>
                <a:cs typeface="Arial MT"/>
              </a:rPr>
              <a:t>W.</a:t>
            </a:r>
            <a:r>
              <a:rPr lang="en-IN" sz="1000" spc="75" dirty="0">
                <a:latin typeface="Arial MT"/>
                <a:cs typeface="Arial MT"/>
              </a:rPr>
              <a:t> </a:t>
            </a:r>
            <a:r>
              <a:rPr lang="en-IN" sz="1000" dirty="0">
                <a:latin typeface="Arial MT"/>
                <a:cs typeface="Arial MT"/>
              </a:rPr>
              <a:t>Hamming,</a:t>
            </a:r>
            <a:r>
              <a:rPr lang="en-IN" sz="1000" spc="75" dirty="0">
                <a:latin typeface="Arial MT"/>
                <a:cs typeface="Arial MT"/>
              </a:rPr>
              <a:t> </a:t>
            </a:r>
            <a:r>
              <a:rPr lang="en-IN" sz="1000" dirty="0">
                <a:latin typeface="Arial MT"/>
                <a:cs typeface="Arial MT"/>
              </a:rPr>
              <a:t>"Error</a:t>
            </a:r>
            <a:r>
              <a:rPr lang="en-IN" sz="1000" spc="70" dirty="0">
                <a:latin typeface="Arial MT"/>
                <a:cs typeface="Arial MT"/>
              </a:rPr>
              <a:t> </a:t>
            </a:r>
            <a:r>
              <a:rPr lang="en-IN" sz="1000" dirty="0">
                <a:latin typeface="Arial MT"/>
                <a:cs typeface="Arial MT"/>
              </a:rPr>
              <a:t>Detecting</a:t>
            </a:r>
            <a:r>
              <a:rPr lang="en-IN" sz="1000" spc="75" dirty="0">
                <a:latin typeface="Arial MT"/>
                <a:cs typeface="Arial MT"/>
              </a:rPr>
              <a:t> </a:t>
            </a:r>
            <a:r>
              <a:rPr lang="en-IN" sz="1000" dirty="0">
                <a:latin typeface="Arial MT"/>
                <a:cs typeface="Arial MT"/>
              </a:rPr>
              <a:t>and</a:t>
            </a:r>
            <a:r>
              <a:rPr lang="en-IN" sz="1000" spc="75" dirty="0">
                <a:latin typeface="Arial MT"/>
                <a:cs typeface="Arial MT"/>
              </a:rPr>
              <a:t> </a:t>
            </a:r>
            <a:r>
              <a:rPr lang="en-IN" sz="1000" dirty="0">
                <a:latin typeface="Arial MT"/>
                <a:cs typeface="Arial MT"/>
              </a:rPr>
              <a:t>Error</a:t>
            </a:r>
            <a:r>
              <a:rPr lang="en-IN" sz="1000" spc="70" dirty="0">
                <a:latin typeface="Arial MT"/>
                <a:cs typeface="Arial MT"/>
              </a:rPr>
              <a:t> </a:t>
            </a:r>
            <a:r>
              <a:rPr lang="en-IN" sz="1000" dirty="0">
                <a:latin typeface="Arial MT"/>
                <a:cs typeface="Arial MT"/>
              </a:rPr>
              <a:t>Correcting</a:t>
            </a:r>
            <a:r>
              <a:rPr lang="en-IN" sz="1000" spc="75" dirty="0">
                <a:latin typeface="Arial MT"/>
                <a:cs typeface="Arial MT"/>
              </a:rPr>
              <a:t> </a:t>
            </a:r>
            <a:r>
              <a:rPr lang="en-IN" sz="1000" dirty="0">
                <a:latin typeface="Arial MT"/>
                <a:cs typeface="Arial MT"/>
              </a:rPr>
              <a:t>Codes,"</a:t>
            </a:r>
            <a:r>
              <a:rPr lang="en-IN" sz="1000" spc="75" dirty="0">
                <a:latin typeface="Arial MT"/>
                <a:cs typeface="Arial MT"/>
              </a:rPr>
              <a:t> </a:t>
            </a:r>
            <a:r>
              <a:rPr lang="en-IN" sz="1000" i="1" dirty="0">
                <a:latin typeface="Arial"/>
                <a:cs typeface="Arial"/>
              </a:rPr>
              <a:t>Bell</a:t>
            </a:r>
            <a:r>
              <a:rPr lang="en-IN" sz="1000" i="1" spc="75" dirty="0">
                <a:latin typeface="Arial"/>
                <a:cs typeface="Arial"/>
              </a:rPr>
              <a:t> </a:t>
            </a:r>
            <a:r>
              <a:rPr lang="en-IN" sz="1000" i="1" dirty="0">
                <a:latin typeface="Arial"/>
                <a:cs typeface="Arial"/>
              </a:rPr>
              <a:t>System</a:t>
            </a:r>
            <a:r>
              <a:rPr lang="en-IN" sz="1000" i="1" spc="70" dirty="0">
                <a:latin typeface="Arial"/>
                <a:cs typeface="Arial"/>
              </a:rPr>
              <a:t> </a:t>
            </a:r>
            <a:r>
              <a:rPr lang="en-IN" sz="1000" i="1" dirty="0">
                <a:latin typeface="Arial"/>
                <a:cs typeface="Arial"/>
              </a:rPr>
              <a:t>Technical</a:t>
            </a:r>
            <a:r>
              <a:rPr lang="en-IN" sz="1000" i="1" spc="75" dirty="0">
                <a:latin typeface="Arial"/>
                <a:cs typeface="Arial"/>
              </a:rPr>
              <a:t> </a:t>
            </a:r>
            <a:r>
              <a:rPr lang="en-IN" sz="1000" i="1" spc="-10" dirty="0">
                <a:latin typeface="Arial"/>
                <a:cs typeface="Arial"/>
              </a:rPr>
              <a:t>Journal</a:t>
            </a:r>
            <a:r>
              <a:rPr lang="en-IN" sz="1000" spc="-10" dirty="0">
                <a:latin typeface="Arial MT"/>
                <a:cs typeface="Arial MT"/>
              </a:rPr>
              <a:t>, </a:t>
            </a:r>
            <a:r>
              <a:rPr lang="en-IN" sz="1000" dirty="0">
                <a:latin typeface="Arial MT"/>
                <a:cs typeface="Arial MT"/>
              </a:rPr>
              <a:t>vol.</a:t>
            </a:r>
            <a:r>
              <a:rPr lang="en-IN" sz="1000" spc="10" dirty="0">
                <a:latin typeface="Arial MT"/>
                <a:cs typeface="Arial MT"/>
              </a:rPr>
              <a:t> </a:t>
            </a:r>
            <a:r>
              <a:rPr lang="en-IN" sz="1000" dirty="0">
                <a:latin typeface="Arial MT"/>
                <a:cs typeface="Arial MT"/>
              </a:rPr>
              <a:t>29,</a:t>
            </a:r>
            <a:r>
              <a:rPr lang="en-IN" sz="1000" spc="15" dirty="0">
                <a:latin typeface="Arial MT"/>
                <a:cs typeface="Arial MT"/>
              </a:rPr>
              <a:t> </a:t>
            </a:r>
            <a:r>
              <a:rPr lang="en-IN" sz="1000" dirty="0">
                <a:latin typeface="Arial MT"/>
                <a:cs typeface="Arial MT"/>
              </a:rPr>
              <a:t>no.</a:t>
            </a:r>
            <a:r>
              <a:rPr lang="en-IN" sz="1000" spc="10" dirty="0">
                <a:latin typeface="Arial MT"/>
                <a:cs typeface="Arial MT"/>
              </a:rPr>
              <a:t> </a:t>
            </a:r>
            <a:r>
              <a:rPr lang="en-IN" sz="1000" dirty="0">
                <a:latin typeface="Arial MT"/>
                <a:cs typeface="Arial MT"/>
              </a:rPr>
              <a:t>2,</a:t>
            </a:r>
            <a:r>
              <a:rPr lang="en-IN" sz="1000" spc="15" dirty="0">
                <a:latin typeface="Arial MT"/>
                <a:cs typeface="Arial MT"/>
              </a:rPr>
              <a:t> </a:t>
            </a:r>
            <a:r>
              <a:rPr lang="en-IN" sz="1000" dirty="0">
                <a:latin typeface="Arial MT"/>
                <a:cs typeface="Arial MT"/>
              </a:rPr>
              <a:t>pp.</a:t>
            </a:r>
            <a:r>
              <a:rPr lang="en-IN" sz="1000" spc="10" dirty="0">
                <a:latin typeface="Arial MT"/>
                <a:cs typeface="Arial MT"/>
              </a:rPr>
              <a:t> </a:t>
            </a:r>
            <a:r>
              <a:rPr lang="en-IN" sz="1000" dirty="0">
                <a:latin typeface="Arial MT"/>
                <a:cs typeface="Arial MT"/>
              </a:rPr>
              <a:t>147–160,</a:t>
            </a:r>
            <a:r>
              <a:rPr lang="en-IN" sz="1000" spc="15" dirty="0">
                <a:latin typeface="Arial MT"/>
                <a:cs typeface="Arial MT"/>
              </a:rPr>
              <a:t> </a:t>
            </a:r>
            <a:r>
              <a:rPr lang="en-IN" sz="1000" dirty="0">
                <a:latin typeface="Arial MT"/>
                <a:cs typeface="Arial MT"/>
              </a:rPr>
              <a:t>Apr.</a:t>
            </a:r>
            <a:r>
              <a:rPr lang="en-IN" sz="1000" spc="15" dirty="0">
                <a:latin typeface="Arial MT"/>
                <a:cs typeface="Arial MT"/>
              </a:rPr>
              <a:t> </a:t>
            </a:r>
            <a:r>
              <a:rPr lang="en-IN" sz="1000" spc="-10" dirty="0">
                <a:latin typeface="Arial MT"/>
                <a:cs typeface="Arial MT"/>
              </a:rPr>
              <a:t>1950.</a:t>
            </a:r>
            <a:endParaRPr lang="en-IN" sz="1000" dirty="0">
              <a:latin typeface="Arial MT"/>
              <a:cs typeface="Arial MT"/>
            </a:endParaRPr>
          </a:p>
          <a:p>
            <a:pPr marL="12700" marR="5080" indent="194945" algn="just">
              <a:lnSpc>
                <a:spcPct val="116700"/>
              </a:lnSpc>
              <a:spcBef>
                <a:spcPts val="600"/>
              </a:spcBef>
              <a:buAutoNum type="arabicPlain"/>
              <a:tabLst>
                <a:tab pos="207645" algn="l"/>
              </a:tabLst>
            </a:pPr>
            <a:r>
              <a:rPr lang="en-IN" sz="1000" dirty="0">
                <a:latin typeface="Arial MT"/>
                <a:cs typeface="Arial MT"/>
              </a:rPr>
              <a:t>A.</a:t>
            </a:r>
            <a:r>
              <a:rPr lang="en-IN" sz="1000" spc="150" dirty="0">
                <a:latin typeface="Arial MT"/>
                <a:cs typeface="Arial MT"/>
              </a:rPr>
              <a:t> </a:t>
            </a:r>
            <a:r>
              <a:rPr lang="en-IN" sz="1000" dirty="0">
                <a:latin typeface="Arial MT"/>
                <a:cs typeface="Arial MT"/>
              </a:rPr>
              <a:t>K.</a:t>
            </a:r>
            <a:r>
              <a:rPr lang="en-IN" sz="1000" spc="155" dirty="0">
                <a:latin typeface="Arial MT"/>
                <a:cs typeface="Arial MT"/>
              </a:rPr>
              <a:t> </a:t>
            </a:r>
            <a:r>
              <a:rPr lang="en-IN" sz="1000" dirty="0">
                <a:latin typeface="Arial MT"/>
                <a:cs typeface="Arial MT"/>
              </a:rPr>
              <a:t>Singh,</a:t>
            </a:r>
            <a:r>
              <a:rPr lang="en-IN" sz="1000" spc="150" dirty="0">
                <a:latin typeface="Arial MT"/>
                <a:cs typeface="Arial MT"/>
              </a:rPr>
              <a:t> </a:t>
            </a:r>
            <a:r>
              <a:rPr lang="en-IN" sz="1000" dirty="0">
                <a:latin typeface="Arial MT"/>
                <a:cs typeface="Arial MT"/>
              </a:rPr>
              <a:t>"Error</a:t>
            </a:r>
            <a:r>
              <a:rPr lang="en-IN" sz="1000" spc="155" dirty="0">
                <a:latin typeface="Arial MT"/>
                <a:cs typeface="Arial MT"/>
              </a:rPr>
              <a:t> </a:t>
            </a:r>
            <a:r>
              <a:rPr lang="en-IN" sz="1000" dirty="0">
                <a:latin typeface="Arial MT"/>
                <a:cs typeface="Arial MT"/>
              </a:rPr>
              <a:t>Detection</a:t>
            </a:r>
            <a:r>
              <a:rPr lang="en-IN" sz="1000" spc="150" dirty="0">
                <a:latin typeface="Arial MT"/>
                <a:cs typeface="Arial MT"/>
              </a:rPr>
              <a:t> </a:t>
            </a:r>
            <a:r>
              <a:rPr lang="en-IN" sz="1000" dirty="0">
                <a:latin typeface="Arial MT"/>
                <a:cs typeface="Arial MT"/>
              </a:rPr>
              <a:t>and</a:t>
            </a:r>
            <a:r>
              <a:rPr lang="en-IN" sz="1000" spc="155" dirty="0">
                <a:latin typeface="Arial MT"/>
                <a:cs typeface="Arial MT"/>
              </a:rPr>
              <a:t> </a:t>
            </a:r>
            <a:r>
              <a:rPr lang="en-IN" sz="1000" dirty="0">
                <a:latin typeface="Arial MT"/>
                <a:cs typeface="Arial MT"/>
              </a:rPr>
              <a:t>Correction</a:t>
            </a:r>
            <a:r>
              <a:rPr lang="en-IN" sz="1000" spc="155" dirty="0">
                <a:latin typeface="Arial MT"/>
                <a:cs typeface="Arial MT"/>
              </a:rPr>
              <a:t> </a:t>
            </a:r>
            <a:r>
              <a:rPr lang="en-IN" sz="1000" dirty="0">
                <a:latin typeface="Arial MT"/>
                <a:cs typeface="Arial MT"/>
              </a:rPr>
              <a:t>by</a:t>
            </a:r>
            <a:r>
              <a:rPr lang="en-IN" sz="1000" spc="150" dirty="0">
                <a:latin typeface="Arial MT"/>
                <a:cs typeface="Arial MT"/>
              </a:rPr>
              <a:t> </a:t>
            </a:r>
            <a:r>
              <a:rPr lang="en-IN" sz="1000" dirty="0">
                <a:latin typeface="Arial MT"/>
                <a:cs typeface="Arial MT"/>
              </a:rPr>
              <a:t>Hamming</a:t>
            </a:r>
            <a:r>
              <a:rPr lang="en-IN" sz="1000" spc="155" dirty="0">
                <a:latin typeface="Arial MT"/>
                <a:cs typeface="Arial MT"/>
              </a:rPr>
              <a:t> </a:t>
            </a:r>
            <a:r>
              <a:rPr lang="en-IN" sz="1000" dirty="0">
                <a:latin typeface="Arial MT"/>
                <a:cs typeface="Arial MT"/>
              </a:rPr>
              <a:t>Code,"</a:t>
            </a:r>
            <a:r>
              <a:rPr lang="en-IN" sz="1000" spc="150" dirty="0">
                <a:latin typeface="Arial MT"/>
                <a:cs typeface="Arial MT"/>
              </a:rPr>
              <a:t> </a:t>
            </a:r>
            <a:r>
              <a:rPr lang="en-IN" sz="1000" dirty="0">
                <a:latin typeface="Arial MT"/>
                <a:cs typeface="Arial MT"/>
              </a:rPr>
              <a:t>in</a:t>
            </a:r>
            <a:r>
              <a:rPr lang="en-IN" sz="1000" spc="155" dirty="0">
                <a:latin typeface="Arial MT"/>
                <a:cs typeface="Arial MT"/>
              </a:rPr>
              <a:t> </a:t>
            </a:r>
            <a:r>
              <a:rPr lang="en-IN" sz="1000" i="1" dirty="0">
                <a:latin typeface="Arial"/>
                <a:cs typeface="Arial"/>
              </a:rPr>
              <a:t>Proc.</a:t>
            </a:r>
            <a:r>
              <a:rPr lang="en-IN" sz="1000" i="1" spc="155" dirty="0">
                <a:latin typeface="Arial"/>
                <a:cs typeface="Arial"/>
              </a:rPr>
              <a:t> </a:t>
            </a:r>
            <a:r>
              <a:rPr lang="en-IN" sz="1000" i="1" dirty="0">
                <a:latin typeface="Arial"/>
                <a:cs typeface="Arial"/>
              </a:rPr>
              <a:t>2016</a:t>
            </a:r>
            <a:r>
              <a:rPr lang="en-IN" sz="1000" i="1" spc="150" dirty="0">
                <a:latin typeface="Arial"/>
                <a:cs typeface="Arial"/>
              </a:rPr>
              <a:t> </a:t>
            </a:r>
            <a:r>
              <a:rPr lang="en-IN" sz="1000" i="1" spc="-10" dirty="0">
                <a:latin typeface="Arial"/>
                <a:cs typeface="Arial"/>
              </a:rPr>
              <a:t>International </a:t>
            </a:r>
            <a:r>
              <a:rPr lang="en-IN" sz="1000" i="1" dirty="0">
                <a:latin typeface="Arial"/>
                <a:cs typeface="Arial"/>
              </a:rPr>
              <a:t>Conference</a:t>
            </a:r>
            <a:r>
              <a:rPr lang="en-IN" sz="1000" i="1" spc="155" dirty="0">
                <a:latin typeface="Arial"/>
                <a:cs typeface="Arial"/>
              </a:rPr>
              <a:t> </a:t>
            </a:r>
            <a:r>
              <a:rPr lang="en-IN" sz="1000" i="1" dirty="0">
                <a:latin typeface="Arial"/>
                <a:cs typeface="Arial"/>
              </a:rPr>
              <a:t>on</a:t>
            </a:r>
            <a:r>
              <a:rPr lang="en-IN" sz="1000" i="1" spc="160" dirty="0">
                <a:latin typeface="Arial"/>
                <a:cs typeface="Arial"/>
              </a:rPr>
              <a:t> </a:t>
            </a:r>
            <a:r>
              <a:rPr lang="en-IN" sz="1000" i="1" dirty="0">
                <a:latin typeface="Arial"/>
                <a:cs typeface="Arial"/>
              </a:rPr>
              <a:t>Global</a:t>
            </a:r>
            <a:r>
              <a:rPr lang="en-IN" sz="1000" i="1" spc="155" dirty="0">
                <a:latin typeface="Arial"/>
                <a:cs typeface="Arial"/>
              </a:rPr>
              <a:t> </a:t>
            </a:r>
            <a:r>
              <a:rPr lang="en-IN" sz="1000" i="1" dirty="0">
                <a:latin typeface="Arial"/>
                <a:cs typeface="Arial"/>
              </a:rPr>
              <a:t>Trends</a:t>
            </a:r>
            <a:r>
              <a:rPr lang="en-IN" sz="1000" i="1" spc="160" dirty="0">
                <a:latin typeface="Arial"/>
                <a:cs typeface="Arial"/>
              </a:rPr>
              <a:t> </a:t>
            </a:r>
            <a:r>
              <a:rPr lang="en-IN" sz="1000" i="1" dirty="0">
                <a:latin typeface="Arial"/>
                <a:cs typeface="Arial"/>
              </a:rPr>
              <a:t>in</a:t>
            </a:r>
            <a:r>
              <a:rPr lang="en-IN" sz="1000" i="1" spc="155" dirty="0">
                <a:latin typeface="Arial"/>
                <a:cs typeface="Arial"/>
              </a:rPr>
              <a:t> </a:t>
            </a:r>
            <a:r>
              <a:rPr lang="en-IN" sz="1000" i="1" dirty="0">
                <a:latin typeface="Arial"/>
                <a:cs typeface="Arial"/>
              </a:rPr>
              <a:t>Signal</a:t>
            </a:r>
            <a:r>
              <a:rPr lang="en-IN" sz="1000" i="1" spc="160" dirty="0">
                <a:latin typeface="Arial"/>
                <a:cs typeface="Arial"/>
              </a:rPr>
              <a:t> </a:t>
            </a:r>
            <a:r>
              <a:rPr lang="en-IN" sz="1000" i="1" dirty="0">
                <a:latin typeface="Arial"/>
                <a:cs typeface="Arial"/>
              </a:rPr>
              <a:t>Processing,</a:t>
            </a:r>
            <a:r>
              <a:rPr lang="en-IN" sz="1000" i="1" spc="155" dirty="0">
                <a:latin typeface="Arial"/>
                <a:cs typeface="Arial"/>
              </a:rPr>
              <a:t> </a:t>
            </a:r>
            <a:r>
              <a:rPr lang="en-IN" sz="1000" i="1" dirty="0">
                <a:latin typeface="Arial"/>
                <a:cs typeface="Arial"/>
              </a:rPr>
              <a:t>Information</a:t>
            </a:r>
            <a:r>
              <a:rPr lang="en-IN" sz="1000" i="1" spc="160" dirty="0">
                <a:latin typeface="Arial"/>
                <a:cs typeface="Arial"/>
              </a:rPr>
              <a:t> </a:t>
            </a:r>
            <a:r>
              <a:rPr lang="en-IN" sz="1000" i="1" dirty="0">
                <a:latin typeface="Arial"/>
                <a:cs typeface="Arial"/>
              </a:rPr>
              <a:t>Computing</a:t>
            </a:r>
            <a:r>
              <a:rPr lang="en-IN" sz="1000" i="1" spc="155" dirty="0">
                <a:latin typeface="Arial"/>
                <a:cs typeface="Arial"/>
              </a:rPr>
              <a:t> </a:t>
            </a:r>
            <a:r>
              <a:rPr lang="en-IN" sz="1000" i="1" dirty="0">
                <a:latin typeface="Arial"/>
                <a:cs typeface="Arial"/>
              </a:rPr>
              <a:t>and</a:t>
            </a:r>
            <a:r>
              <a:rPr lang="en-IN" sz="1000" i="1" spc="160" dirty="0">
                <a:latin typeface="Arial"/>
                <a:cs typeface="Arial"/>
              </a:rPr>
              <a:t> </a:t>
            </a:r>
            <a:r>
              <a:rPr lang="en-IN" sz="1000" i="1" spc="-10" dirty="0">
                <a:latin typeface="Arial"/>
                <a:cs typeface="Arial"/>
              </a:rPr>
              <a:t>Communication</a:t>
            </a:r>
            <a:r>
              <a:rPr lang="en-IN" sz="1000" spc="-10" dirty="0">
                <a:latin typeface="Arial MT"/>
                <a:cs typeface="Arial MT"/>
              </a:rPr>
              <a:t>, </a:t>
            </a:r>
            <a:r>
              <a:rPr lang="en-IN" sz="1000" dirty="0">
                <a:latin typeface="Arial MT"/>
                <a:cs typeface="Arial MT"/>
              </a:rPr>
              <a:t>IEEE,</a:t>
            </a:r>
            <a:r>
              <a:rPr lang="en-IN" sz="1000" spc="15" dirty="0">
                <a:latin typeface="Arial MT"/>
                <a:cs typeface="Arial MT"/>
              </a:rPr>
              <a:t> </a:t>
            </a:r>
            <a:r>
              <a:rPr lang="en-IN" sz="1000" dirty="0">
                <a:latin typeface="Arial MT"/>
                <a:cs typeface="Arial MT"/>
              </a:rPr>
              <a:t>2016,</a:t>
            </a:r>
            <a:r>
              <a:rPr lang="en-IN" sz="1000" spc="20" dirty="0">
                <a:latin typeface="Arial MT"/>
                <a:cs typeface="Arial MT"/>
              </a:rPr>
              <a:t> </a:t>
            </a:r>
            <a:r>
              <a:rPr lang="en-IN" sz="1000" dirty="0">
                <a:latin typeface="Arial MT"/>
                <a:cs typeface="Arial MT"/>
              </a:rPr>
              <a:t>pp.</a:t>
            </a:r>
            <a:r>
              <a:rPr lang="en-IN" sz="1000" spc="20" dirty="0">
                <a:latin typeface="Arial MT"/>
                <a:cs typeface="Arial MT"/>
              </a:rPr>
              <a:t> </a:t>
            </a:r>
            <a:r>
              <a:rPr lang="en-IN" sz="1000" dirty="0">
                <a:latin typeface="Arial MT"/>
                <a:cs typeface="Arial MT"/>
              </a:rPr>
              <a:t>35–</a:t>
            </a:r>
            <a:r>
              <a:rPr lang="en-IN" sz="1000" spc="-25" dirty="0">
                <a:latin typeface="Arial MT"/>
                <a:cs typeface="Arial MT"/>
              </a:rPr>
              <a:t>37.</a:t>
            </a:r>
            <a:endParaRPr lang="en-IN" sz="1000" dirty="0">
              <a:latin typeface="Arial MT"/>
              <a:cs typeface="Arial MT"/>
            </a:endParaRPr>
          </a:p>
          <a:p>
            <a:pPr marL="12700" marR="5080" indent="217804" algn="just">
              <a:lnSpc>
                <a:spcPct val="116700"/>
              </a:lnSpc>
              <a:spcBef>
                <a:spcPts val="600"/>
              </a:spcBef>
              <a:buAutoNum type="arabicPlain"/>
              <a:tabLst>
                <a:tab pos="230504" algn="l"/>
              </a:tabLst>
            </a:pPr>
            <a:r>
              <a:rPr lang="en-IN" sz="1000" dirty="0">
                <a:latin typeface="Arial MT"/>
                <a:cs typeface="Arial MT"/>
              </a:rPr>
              <a:t>C.</a:t>
            </a:r>
            <a:r>
              <a:rPr lang="en-IN" sz="1000" spc="330" dirty="0">
                <a:latin typeface="Arial MT"/>
                <a:cs typeface="Arial MT"/>
              </a:rPr>
              <a:t> </a:t>
            </a:r>
            <a:r>
              <a:rPr lang="en-IN" sz="1000" dirty="0">
                <a:latin typeface="Arial MT"/>
                <a:cs typeface="Arial MT"/>
              </a:rPr>
              <a:t>Hillier</a:t>
            </a:r>
            <a:r>
              <a:rPr lang="en-IN" sz="1000" spc="330" dirty="0">
                <a:latin typeface="Arial MT"/>
                <a:cs typeface="Arial MT"/>
              </a:rPr>
              <a:t> </a:t>
            </a:r>
            <a:r>
              <a:rPr lang="en-IN" sz="1000" dirty="0">
                <a:latin typeface="Arial MT"/>
                <a:cs typeface="Arial MT"/>
              </a:rPr>
              <a:t>and</a:t>
            </a:r>
            <a:r>
              <a:rPr lang="en-IN" sz="1000" spc="330" dirty="0">
                <a:latin typeface="Arial MT"/>
                <a:cs typeface="Arial MT"/>
              </a:rPr>
              <a:t> </a:t>
            </a:r>
            <a:r>
              <a:rPr lang="en-IN" sz="1000" dirty="0">
                <a:latin typeface="Arial MT"/>
                <a:cs typeface="Arial MT"/>
              </a:rPr>
              <a:t>V.</a:t>
            </a:r>
            <a:r>
              <a:rPr lang="en-IN" sz="1000" spc="330" dirty="0">
                <a:latin typeface="Arial MT"/>
                <a:cs typeface="Arial MT"/>
              </a:rPr>
              <a:t> </a:t>
            </a:r>
            <a:r>
              <a:rPr lang="en-IN" sz="1000" dirty="0">
                <a:latin typeface="Arial MT"/>
                <a:cs typeface="Arial MT"/>
              </a:rPr>
              <a:t>Balyan,</a:t>
            </a:r>
            <a:r>
              <a:rPr lang="en-IN" sz="1000" spc="330" dirty="0">
                <a:latin typeface="Arial MT"/>
                <a:cs typeface="Arial MT"/>
              </a:rPr>
              <a:t> </a:t>
            </a:r>
            <a:r>
              <a:rPr lang="en-IN" sz="1000" dirty="0">
                <a:latin typeface="Arial MT"/>
                <a:cs typeface="Arial MT"/>
              </a:rPr>
              <a:t>"Error</a:t>
            </a:r>
            <a:r>
              <a:rPr lang="en-IN" sz="1000" spc="330" dirty="0">
                <a:latin typeface="Arial MT"/>
                <a:cs typeface="Arial MT"/>
              </a:rPr>
              <a:t> </a:t>
            </a:r>
            <a:r>
              <a:rPr lang="en-IN" sz="1000" dirty="0">
                <a:latin typeface="Arial MT"/>
                <a:cs typeface="Arial MT"/>
              </a:rPr>
              <a:t>Detection</a:t>
            </a:r>
            <a:r>
              <a:rPr lang="en-IN" sz="1000" spc="335" dirty="0">
                <a:latin typeface="Arial MT"/>
                <a:cs typeface="Arial MT"/>
              </a:rPr>
              <a:t> </a:t>
            </a:r>
            <a:r>
              <a:rPr lang="en-IN" sz="1000" dirty="0">
                <a:latin typeface="Arial MT"/>
                <a:cs typeface="Arial MT"/>
              </a:rPr>
              <a:t>and</a:t>
            </a:r>
            <a:r>
              <a:rPr lang="en-IN" sz="1000" spc="330" dirty="0">
                <a:latin typeface="Arial MT"/>
                <a:cs typeface="Arial MT"/>
              </a:rPr>
              <a:t> </a:t>
            </a:r>
            <a:r>
              <a:rPr lang="en-IN" sz="1000" dirty="0">
                <a:latin typeface="Arial MT"/>
                <a:cs typeface="Arial MT"/>
              </a:rPr>
              <a:t>Correction</a:t>
            </a:r>
            <a:r>
              <a:rPr lang="en-IN" sz="1000" spc="330" dirty="0">
                <a:latin typeface="Arial MT"/>
                <a:cs typeface="Arial MT"/>
              </a:rPr>
              <a:t> </a:t>
            </a:r>
            <a:r>
              <a:rPr lang="en-IN" sz="1000" dirty="0">
                <a:latin typeface="Arial MT"/>
                <a:cs typeface="Arial MT"/>
              </a:rPr>
              <a:t>On-Board</a:t>
            </a:r>
            <a:r>
              <a:rPr lang="en-IN" sz="1000" spc="330" dirty="0">
                <a:latin typeface="Arial MT"/>
                <a:cs typeface="Arial MT"/>
              </a:rPr>
              <a:t> </a:t>
            </a:r>
            <a:r>
              <a:rPr lang="en-IN" sz="1000" dirty="0">
                <a:latin typeface="Arial MT"/>
                <a:cs typeface="Arial MT"/>
              </a:rPr>
              <a:t>Nanosatellites</a:t>
            </a:r>
            <a:r>
              <a:rPr lang="en-IN" sz="1000" spc="330" dirty="0">
                <a:latin typeface="Arial MT"/>
                <a:cs typeface="Arial MT"/>
              </a:rPr>
              <a:t> </a:t>
            </a:r>
            <a:r>
              <a:rPr lang="en-IN" sz="1000" spc="-10" dirty="0">
                <a:latin typeface="Arial MT"/>
                <a:cs typeface="Arial MT"/>
              </a:rPr>
              <a:t>Using </a:t>
            </a:r>
            <a:r>
              <a:rPr lang="en-IN" sz="1000" dirty="0">
                <a:latin typeface="Arial MT"/>
                <a:cs typeface="Arial MT"/>
              </a:rPr>
              <a:t>Hamming</a:t>
            </a:r>
            <a:r>
              <a:rPr lang="en-IN" sz="1000" spc="125" dirty="0">
                <a:latin typeface="Arial MT"/>
                <a:cs typeface="Arial MT"/>
              </a:rPr>
              <a:t> </a:t>
            </a:r>
            <a:r>
              <a:rPr lang="en-IN" sz="1000" dirty="0">
                <a:latin typeface="Arial MT"/>
                <a:cs typeface="Arial MT"/>
              </a:rPr>
              <a:t>Codes,"</a:t>
            </a:r>
            <a:r>
              <a:rPr lang="en-IN" sz="1000" spc="130" dirty="0">
                <a:latin typeface="Arial MT"/>
                <a:cs typeface="Arial MT"/>
              </a:rPr>
              <a:t> </a:t>
            </a:r>
            <a:r>
              <a:rPr lang="en-IN" sz="1000" i="1" dirty="0">
                <a:latin typeface="Arial"/>
                <a:cs typeface="Arial"/>
              </a:rPr>
              <a:t>Journal</a:t>
            </a:r>
            <a:r>
              <a:rPr lang="en-IN" sz="1000" i="1" spc="130" dirty="0">
                <a:latin typeface="Arial"/>
                <a:cs typeface="Arial"/>
              </a:rPr>
              <a:t> </a:t>
            </a:r>
            <a:r>
              <a:rPr lang="en-IN" sz="1000" i="1" dirty="0">
                <a:latin typeface="Arial"/>
                <a:cs typeface="Arial"/>
              </a:rPr>
              <a:t>of</a:t>
            </a:r>
            <a:r>
              <a:rPr lang="en-IN" sz="1000" i="1" spc="130" dirty="0">
                <a:latin typeface="Arial"/>
                <a:cs typeface="Arial"/>
              </a:rPr>
              <a:t> </a:t>
            </a:r>
            <a:r>
              <a:rPr lang="en-IN" sz="1000" i="1" dirty="0">
                <a:latin typeface="Arial"/>
                <a:cs typeface="Arial"/>
              </a:rPr>
              <a:t>Electrical</a:t>
            </a:r>
            <a:r>
              <a:rPr lang="en-IN" sz="1000" i="1" spc="130" dirty="0">
                <a:latin typeface="Arial"/>
                <a:cs typeface="Arial"/>
              </a:rPr>
              <a:t> </a:t>
            </a:r>
            <a:r>
              <a:rPr lang="en-IN" sz="1000" i="1" dirty="0">
                <a:latin typeface="Arial"/>
                <a:cs typeface="Arial"/>
              </a:rPr>
              <a:t>and</a:t>
            </a:r>
            <a:r>
              <a:rPr lang="en-IN" sz="1000" i="1" spc="130" dirty="0">
                <a:latin typeface="Arial"/>
                <a:cs typeface="Arial"/>
              </a:rPr>
              <a:t> </a:t>
            </a:r>
            <a:r>
              <a:rPr lang="en-IN" sz="1000" i="1" dirty="0">
                <a:latin typeface="Arial"/>
                <a:cs typeface="Arial"/>
              </a:rPr>
              <a:t>Computer</a:t>
            </a:r>
            <a:r>
              <a:rPr lang="en-IN" sz="1000" i="1" spc="130" dirty="0">
                <a:latin typeface="Arial"/>
                <a:cs typeface="Arial"/>
              </a:rPr>
              <a:t> </a:t>
            </a:r>
            <a:r>
              <a:rPr lang="en-IN" sz="1000" i="1" dirty="0">
                <a:latin typeface="Arial"/>
                <a:cs typeface="Arial"/>
              </a:rPr>
              <a:t>Engineering</a:t>
            </a:r>
            <a:r>
              <a:rPr lang="en-IN" sz="1000" dirty="0">
                <a:latin typeface="Arial MT"/>
                <a:cs typeface="Arial MT"/>
              </a:rPr>
              <a:t>,</a:t>
            </a:r>
            <a:r>
              <a:rPr lang="en-IN" sz="1000" spc="125" dirty="0">
                <a:latin typeface="Arial MT"/>
                <a:cs typeface="Arial MT"/>
              </a:rPr>
              <a:t> </a:t>
            </a:r>
            <a:r>
              <a:rPr lang="en-IN" sz="1000" dirty="0" err="1">
                <a:latin typeface="Arial MT"/>
                <a:cs typeface="Arial MT"/>
              </a:rPr>
              <a:t>Hindawi</a:t>
            </a:r>
            <a:r>
              <a:rPr lang="en-IN" sz="1000" dirty="0">
                <a:latin typeface="Arial MT"/>
                <a:cs typeface="Arial MT"/>
              </a:rPr>
              <a:t>,</a:t>
            </a:r>
            <a:r>
              <a:rPr lang="en-IN" sz="1000" spc="130" dirty="0">
                <a:latin typeface="Arial MT"/>
                <a:cs typeface="Arial MT"/>
              </a:rPr>
              <a:t> </a:t>
            </a:r>
            <a:r>
              <a:rPr lang="en-IN" sz="1000" dirty="0">
                <a:latin typeface="Arial MT"/>
                <a:cs typeface="Arial MT"/>
              </a:rPr>
              <a:t>vol.</a:t>
            </a:r>
            <a:r>
              <a:rPr lang="en-IN" sz="1000" spc="130" dirty="0">
                <a:latin typeface="Arial MT"/>
                <a:cs typeface="Arial MT"/>
              </a:rPr>
              <a:t> </a:t>
            </a:r>
            <a:r>
              <a:rPr lang="en-IN" sz="1000" dirty="0">
                <a:latin typeface="Arial MT"/>
                <a:cs typeface="Arial MT"/>
              </a:rPr>
              <a:t>2019,</a:t>
            </a:r>
            <a:r>
              <a:rPr lang="en-IN" sz="1000" spc="130" dirty="0">
                <a:latin typeface="Arial MT"/>
                <a:cs typeface="Arial MT"/>
              </a:rPr>
              <a:t> </a:t>
            </a:r>
            <a:r>
              <a:rPr lang="en-IN" sz="1000" dirty="0">
                <a:latin typeface="Arial MT"/>
                <a:cs typeface="Arial MT"/>
              </a:rPr>
              <a:t>Article</a:t>
            </a:r>
            <a:r>
              <a:rPr lang="en-IN" sz="1000" spc="130" dirty="0">
                <a:latin typeface="Arial MT"/>
                <a:cs typeface="Arial MT"/>
              </a:rPr>
              <a:t> </a:t>
            </a:r>
            <a:r>
              <a:rPr lang="en-IN" sz="1000" spc="-25" dirty="0">
                <a:latin typeface="Arial MT"/>
                <a:cs typeface="Arial MT"/>
              </a:rPr>
              <a:t>ID </a:t>
            </a:r>
            <a:r>
              <a:rPr lang="en-IN" sz="1000" dirty="0">
                <a:latin typeface="Arial MT"/>
                <a:cs typeface="Arial MT"/>
              </a:rPr>
              <a:t>3905094,</a:t>
            </a:r>
            <a:r>
              <a:rPr lang="en-IN" sz="1000" spc="15" dirty="0">
                <a:latin typeface="Arial MT"/>
                <a:cs typeface="Arial MT"/>
              </a:rPr>
              <a:t> </a:t>
            </a:r>
            <a:r>
              <a:rPr lang="en-IN" sz="1000" dirty="0">
                <a:latin typeface="Arial MT"/>
                <a:cs typeface="Arial MT"/>
              </a:rPr>
              <a:t>15</a:t>
            </a:r>
            <a:r>
              <a:rPr lang="en-IN" sz="1000" spc="15" dirty="0">
                <a:latin typeface="Arial MT"/>
                <a:cs typeface="Arial MT"/>
              </a:rPr>
              <a:t> </a:t>
            </a:r>
            <a:r>
              <a:rPr lang="en-IN" sz="1000" dirty="0">
                <a:latin typeface="Arial MT"/>
                <a:cs typeface="Arial MT"/>
              </a:rPr>
              <a:t>pages,</a:t>
            </a:r>
            <a:r>
              <a:rPr lang="en-IN" sz="1000" spc="20" dirty="0">
                <a:latin typeface="Arial MT"/>
                <a:cs typeface="Arial MT"/>
              </a:rPr>
              <a:t> </a:t>
            </a:r>
            <a:r>
              <a:rPr lang="en-IN" sz="1000" spc="-10" dirty="0">
                <a:latin typeface="Arial MT"/>
                <a:cs typeface="Arial MT"/>
              </a:rPr>
              <a:t>2019.</a:t>
            </a:r>
            <a:endParaRPr lang="en-IN" sz="1000" dirty="0">
              <a:latin typeface="Arial MT"/>
              <a:cs typeface="Arial MT"/>
            </a:endParaRPr>
          </a:p>
          <a:p>
            <a:pPr marL="12700" marR="5080" indent="188595" algn="just">
              <a:lnSpc>
                <a:spcPct val="116700"/>
              </a:lnSpc>
              <a:spcBef>
                <a:spcPts val="600"/>
              </a:spcBef>
              <a:buAutoNum type="arabicPlain"/>
              <a:tabLst>
                <a:tab pos="201295" algn="l"/>
              </a:tabLst>
            </a:pPr>
            <a:r>
              <a:rPr lang="en-IN" sz="1000" dirty="0">
                <a:latin typeface="Arial MT"/>
                <a:cs typeface="Arial MT"/>
              </a:rPr>
              <a:t>G.</a:t>
            </a:r>
            <a:r>
              <a:rPr lang="en-IN" sz="1000" spc="100" dirty="0">
                <a:latin typeface="Arial MT"/>
                <a:cs typeface="Arial MT"/>
              </a:rPr>
              <a:t> </a:t>
            </a:r>
            <a:r>
              <a:rPr lang="en-IN" sz="1000" dirty="0">
                <a:latin typeface="Arial MT"/>
                <a:cs typeface="Arial MT"/>
              </a:rPr>
              <a:t>Subhasri</a:t>
            </a:r>
            <a:r>
              <a:rPr lang="en-IN" sz="1000" spc="100" dirty="0">
                <a:latin typeface="Arial MT"/>
                <a:cs typeface="Arial MT"/>
              </a:rPr>
              <a:t> </a:t>
            </a:r>
            <a:r>
              <a:rPr lang="en-IN" sz="1000" dirty="0">
                <a:latin typeface="Arial MT"/>
                <a:cs typeface="Arial MT"/>
              </a:rPr>
              <a:t>and</a:t>
            </a:r>
            <a:r>
              <a:rPr lang="en-IN" sz="1000" spc="100" dirty="0">
                <a:latin typeface="Arial MT"/>
                <a:cs typeface="Arial MT"/>
              </a:rPr>
              <a:t> </a:t>
            </a:r>
            <a:r>
              <a:rPr lang="en-IN" sz="1000" dirty="0">
                <a:latin typeface="Arial MT"/>
                <a:cs typeface="Arial MT"/>
              </a:rPr>
              <a:t>N.</a:t>
            </a:r>
            <a:r>
              <a:rPr lang="en-IN" sz="1000" spc="105" dirty="0">
                <a:latin typeface="Arial MT"/>
                <a:cs typeface="Arial MT"/>
              </a:rPr>
              <a:t> </a:t>
            </a:r>
            <a:r>
              <a:rPr lang="en-IN" sz="1000" dirty="0">
                <a:latin typeface="Arial MT"/>
                <a:cs typeface="Arial MT"/>
              </a:rPr>
              <a:t>Radha,</a:t>
            </a:r>
            <a:r>
              <a:rPr lang="en-IN" sz="1000" spc="100" dirty="0">
                <a:latin typeface="Arial MT"/>
                <a:cs typeface="Arial MT"/>
              </a:rPr>
              <a:t> </a:t>
            </a:r>
            <a:r>
              <a:rPr lang="en-IN" sz="1000" dirty="0">
                <a:latin typeface="Arial MT"/>
                <a:cs typeface="Arial MT"/>
              </a:rPr>
              <a:t>"VLSI</a:t>
            </a:r>
            <a:r>
              <a:rPr lang="en-IN" sz="1000" spc="100" dirty="0">
                <a:latin typeface="Arial MT"/>
                <a:cs typeface="Arial MT"/>
              </a:rPr>
              <a:t> </a:t>
            </a:r>
            <a:r>
              <a:rPr lang="en-IN" sz="1000" dirty="0">
                <a:latin typeface="Arial MT"/>
                <a:cs typeface="Arial MT"/>
              </a:rPr>
              <a:t>Design</a:t>
            </a:r>
            <a:r>
              <a:rPr lang="en-IN" sz="1000" spc="105" dirty="0">
                <a:latin typeface="Arial MT"/>
                <a:cs typeface="Arial MT"/>
              </a:rPr>
              <a:t> </a:t>
            </a:r>
            <a:r>
              <a:rPr lang="en-IN" sz="1000" dirty="0">
                <a:latin typeface="Arial MT"/>
                <a:cs typeface="Arial MT"/>
              </a:rPr>
              <a:t>of</a:t>
            </a:r>
            <a:r>
              <a:rPr lang="en-IN" sz="1000" spc="100" dirty="0">
                <a:latin typeface="Arial MT"/>
                <a:cs typeface="Arial MT"/>
              </a:rPr>
              <a:t> </a:t>
            </a:r>
            <a:r>
              <a:rPr lang="en-IN" sz="1000" dirty="0">
                <a:latin typeface="Arial MT"/>
                <a:cs typeface="Arial MT"/>
              </a:rPr>
              <a:t>Parity</a:t>
            </a:r>
            <a:r>
              <a:rPr lang="en-IN" sz="1000" spc="100" dirty="0">
                <a:latin typeface="Arial MT"/>
                <a:cs typeface="Arial MT"/>
              </a:rPr>
              <a:t> </a:t>
            </a:r>
            <a:r>
              <a:rPr lang="en-IN" sz="1000" dirty="0">
                <a:latin typeface="Arial MT"/>
                <a:cs typeface="Arial MT"/>
              </a:rPr>
              <a:t>Check</a:t>
            </a:r>
            <a:r>
              <a:rPr lang="en-IN" sz="1000" spc="105" dirty="0">
                <a:latin typeface="Arial MT"/>
                <a:cs typeface="Arial MT"/>
              </a:rPr>
              <a:t> </a:t>
            </a:r>
            <a:r>
              <a:rPr lang="en-IN" sz="1000" dirty="0">
                <a:latin typeface="Arial MT"/>
                <a:cs typeface="Arial MT"/>
              </a:rPr>
              <a:t>Code</a:t>
            </a:r>
            <a:r>
              <a:rPr lang="en-IN" sz="1000" spc="100" dirty="0">
                <a:latin typeface="Arial MT"/>
                <a:cs typeface="Arial MT"/>
              </a:rPr>
              <a:t> </a:t>
            </a:r>
            <a:r>
              <a:rPr lang="en-IN" sz="1000" dirty="0">
                <a:latin typeface="Arial MT"/>
                <a:cs typeface="Arial MT"/>
              </a:rPr>
              <a:t>with</a:t>
            </a:r>
            <a:r>
              <a:rPr lang="en-IN" sz="1000" spc="100" dirty="0">
                <a:latin typeface="Arial MT"/>
                <a:cs typeface="Arial MT"/>
              </a:rPr>
              <a:t> </a:t>
            </a:r>
            <a:r>
              <a:rPr lang="en-IN" sz="1000" dirty="0">
                <a:latin typeface="Arial MT"/>
                <a:cs typeface="Arial MT"/>
              </a:rPr>
              <a:t>Hamming</a:t>
            </a:r>
            <a:r>
              <a:rPr lang="en-IN" sz="1000" spc="105" dirty="0">
                <a:latin typeface="Arial MT"/>
                <a:cs typeface="Arial MT"/>
              </a:rPr>
              <a:t> </a:t>
            </a:r>
            <a:r>
              <a:rPr lang="en-IN" sz="1000" dirty="0">
                <a:latin typeface="Arial MT"/>
                <a:cs typeface="Arial MT"/>
              </a:rPr>
              <a:t>Code</a:t>
            </a:r>
            <a:r>
              <a:rPr lang="en-IN" sz="1000" spc="100" dirty="0">
                <a:latin typeface="Arial MT"/>
                <a:cs typeface="Arial MT"/>
              </a:rPr>
              <a:t> </a:t>
            </a:r>
            <a:r>
              <a:rPr lang="en-IN" sz="1000" dirty="0">
                <a:latin typeface="Arial MT"/>
                <a:cs typeface="Arial MT"/>
              </a:rPr>
              <a:t>for</a:t>
            </a:r>
            <a:r>
              <a:rPr lang="en-IN" sz="1000" spc="100" dirty="0">
                <a:latin typeface="Arial MT"/>
                <a:cs typeface="Arial MT"/>
              </a:rPr>
              <a:t> </a:t>
            </a:r>
            <a:r>
              <a:rPr lang="en-IN" sz="1000" spc="-10" dirty="0">
                <a:latin typeface="Arial MT"/>
                <a:cs typeface="Arial MT"/>
              </a:rPr>
              <a:t>Error </a:t>
            </a:r>
            <a:r>
              <a:rPr lang="en-IN" sz="1000" dirty="0">
                <a:latin typeface="Arial MT"/>
                <a:cs typeface="Arial MT"/>
              </a:rPr>
              <a:t>Detection</a:t>
            </a:r>
            <a:r>
              <a:rPr lang="en-IN" sz="1000" spc="95" dirty="0">
                <a:latin typeface="Arial MT"/>
                <a:cs typeface="Arial MT"/>
              </a:rPr>
              <a:t> </a:t>
            </a:r>
            <a:r>
              <a:rPr lang="en-IN" sz="1000" dirty="0">
                <a:latin typeface="Arial MT"/>
                <a:cs typeface="Arial MT"/>
              </a:rPr>
              <a:t>and</a:t>
            </a:r>
            <a:r>
              <a:rPr lang="en-IN" sz="1000" spc="100" dirty="0">
                <a:latin typeface="Arial MT"/>
                <a:cs typeface="Arial MT"/>
              </a:rPr>
              <a:t> </a:t>
            </a:r>
            <a:r>
              <a:rPr lang="en-IN" sz="1000" dirty="0">
                <a:latin typeface="Arial MT"/>
                <a:cs typeface="Arial MT"/>
              </a:rPr>
              <a:t>Correction,"</a:t>
            </a:r>
            <a:r>
              <a:rPr lang="en-IN" sz="1000" spc="100" dirty="0">
                <a:latin typeface="Arial MT"/>
                <a:cs typeface="Arial MT"/>
              </a:rPr>
              <a:t> </a:t>
            </a:r>
            <a:r>
              <a:rPr lang="en-IN" sz="1000" dirty="0">
                <a:latin typeface="Arial MT"/>
                <a:cs typeface="Arial MT"/>
              </a:rPr>
              <a:t>in</a:t>
            </a:r>
            <a:r>
              <a:rPr lang="en-IN" sz="1000" spc="100" dirty="0">
                <a:latin typeface="Arial MT"/>
                <a:cs typeface="Arial MT"/>
              </a:rPr>
              <a:t> </a:t>
            </a:r>
            <a:r>
              <a:rPr lang="en-IN" sz="1000" i="1" dirty="0">
                <a:latin typeface="Arial"/>
                <a:cs typeface="Arial"/>
              </a:rPr>
              <a:t>Proc.</a:t>
            </a:r>
            <a:r>
              <a:rPr lang="en-IN" sz="1000" i="1" spc="100" dirty="0">
                <a:latin typeface="Arial"/>
                <a:cs typeface="Arial"/>
              </a:rPr>
              <a:t> </a:t>
            </a:r>
            <a:r>
              <a:rPr lang="en-IN" sz="1000" i="1" dirty="0">
                <a:latin typeface="Arial"/>
                <a:cs typeface="Arial"/>
              </a:rPr>
              <a:t>International</a:t>
            </a:r>
            <a:r>
              <a:rPr lang="en-IN" sz="1000" i="1" spc="95" dirty="0">
                <a:latin typeface="Arial"/>
                <a:cs typeface="Arial"/>
              </a:rPr>
              <a:t> </a:t>
            </a:r>
            <a:r>
              <a:rPr lang="en-IN" sz="1000" i="1" dirty="0">
                <a:latin typeface="Arial"/>
                <a:cs typeface="Arial"/>
              </a:rPr>
              <a:t>Conference</a:t>
            </a:r>
            <a:r>
              <a:rPr lang="en-IN" sz="1000" i="1" spc="100" dirty="0">
                <a:latin typeface="Arial"/>
                <a:cs typeface="Arial"/>
              </a:rPr>
              <a:t> </a:t>
            </a:r>
            <a:r>
              <a:rPr lang="en-IN" sz="1000" i="1" dirty="0">
                <a:latin typeface="Arial"/>
                <a:cs typeface="Arial"/>
              </a:rPr>
              <a:t>on</a:t>
            </a:r>
            <a:r>
              <a:rPr lang="en-IN" sz="1000" i="1" spc="100" dirty="0">
                <a:latin typeface="Arial"/>
                <a:cs typeface="Arial"/>
              </a:rPr>
              <a:t> </a:t>
            </a:r>
            <a:r>
              <a:rPr lang="en-IN" sz="1000" i="1" dirty="0">
                <a:latin typeface="Arial"/>
                <a:cs typeface="Arial"/>
              </a:rPr>
              <a:t>Intelligent</a:t>
            </a:r>
            <a:r>
              <a:rPr lang="en-IN" sz="1000" i="1" spc="100" dirty="0">
                <a:latin typeface="Arial"/>
                <a:cs typeface="Arial"/>
              </a:rPr>
              <a:t> </a:t>
            </a:r>
            <a:r>
              <a:rPr lang="en-IN" sz="1000" i="1" dirty="0">
                <a:latin typeface="Arial"/>
                <a:cs typeface="Arial"/>
              </a:rPr>
              <a:t>Computing</a:t>
            </a:r>
            <a:r>
              <a:rPr lang="en-IN" sz="1000" i="1" spc="100" dirty="0">
                <a:latin typeface="Arial"/>
                <a:cs typeface="Arial"/>
              </a:rPr>
              <a:t> </a:t>
            </a:r>
            <a:r>
              <a:rPr lang="en-IN" sz="1000" i="1" dirty="0">
                <a:latin typeface="Arial"/>
                <a:cs typeface="Arial"/>
              </a:rPr>
              <a:t>and</a:t>
            </a:r>
            <a:r>
              <a:rPr lang="en-IN" sz="1000" i="1" spc="95" dirty="0">
                <a:latin typeface="Arial"/>
                <a:cs typeface="Arial"/>
              </a:rPr>
              <a:t> </a:t>
            </a:r>
            <a:r>
              <a:rPr lang="en-IN" sz="1000" i="1" spc="-10" dirty="0">
                <a:latin typeface="Arial"/>
                <a:cs typeface="Arial"/>
              </a:rPr>
              <a:t>Control </a:t>
            </a:r>
            <a:r>
              <a:rPr lang="en-IN" sz="1000" i="1" dirty="0">
                <a:latin typeface="Arial"/>
                <a:cs typeface="Arial"/>
              </a:rPr>
              <a:t>Systems (ICICCS</a:t>
            </a:r>
            <a:r>
              <a:rPr lang="en-IN" sz="1000" i="1" spc="5" dirty="0">
                <a:latin typeface="Arial"/>
                <a:cs typeface="Arial"/>
              </a:rPr>
              <a:t> </a:t>
            </a:r>
            <a:r>
              <a:rPr lang="en-IN" sz="1000" i="1" dirty="0">
                <a:latin typeface="Arial"/>
                <a:cs typeface="Arial"/>
              </a:rPr>
              <a:t>2019)</a:t>
            </a:r>
            <a:r>
              <a:rPr lang="en-IN" sz="1000" dirty="0">
                <a:latin typeface="Arial MT"/>
                <a:cs typeface="Arial MT"/>
              </a:rPr>
              <a:t>,</a:t>
            </a:r>
            <a:r>
              <a:rPr lang="en-IN" sz="1000" spc="5" dirty="0">
                <a:latin typeface="Arial MT"/>
                <a:cs typeface="Arial MT"/>
              </a:rPr>
              <a:t> </a:t>
            </a:r>
            <a:r>
              <a:rPr lang="en-IN" sz="1000" dirty="0">
                <a:latin typeface="Arial MT"/>
                <a:cs typeface="Arial MT"/>
              </a:rPr>
              <a:t>IEEE, 2019,</a:t>
            </a:r>
            <a:r>
              <a:rPr lang="en-IN" sz="1000" spc="5" dirty="0">
                <a:latin typeface="Arial MT"/>
                <a:cs typeface="Arial MT"/>
              </a:rPr>
              <a:t> </a:t>
            </a:r>
            <a:r>
              <a:rPr lang="en-IN" sz="1000" dirty="0">
                <a:latin typeface="Arial MT"/>
                <a:cs typeface="Arial MT"/>
              </a:rPr>
              <a:t>pp.</a:t>
            </a:r>
            <a:r>
              <a:rPr lang="en-IN" sz="1000" spc="5" dirty="0">
                <a:latin typeface="Arial MT"/>
                <a:cs typeface="Arial MT"/>
              </a:rPr>
              <a:t> </a:t>
            </a:r>
            <a:r>
              <a:rPr lang="en-IN" sz="1000" dirty="0">
                <a:latin typeface="Arial MT"/>
                <a:cs typeface="Arial MT"/>
              </a:rPr>
              <a:t>15–</a:t>
            </a:r>
            <a:r>
              <a:rPr lang="en-IN" sz="1000" spc="-25" dirty="0">
                <a:latin typeface="Arial MT"/>
                <a:cs typeface="Arial MT"/>
              </a:rPr>
              <a:t>20.</a:t>
            </a:r>
            <a:endParaRPr lang="en-IN" sz="1000" dirty="0">
              <a:latin typeface="Arial MT"/>
              <a:cs typeface="Arial MT"/>
            </a:endParaRPr>
          </a:p>
          <a:p>
            <a:pPr marL="12700" marR="5080" indent="188595" algn="just">
              <a:lnSpc>
                <a:spcPct val="116700"/>
              </a:lnSpc>
              <a:spcBef>
                <a:spcPts val="600"/>
              </a:spcBef>
              <a:buAutoNum type="arabicPlain"/>
              <a:tabLst>
                <a:tab pos="201295" algn="l"/>
              </a:tabLst>
            </a:pPr>
            <a:r>
              <a:rPr lang="en-IN" sz="1000" dirty="0">
                <a:latin typeface="Arial MT"/>
                <a:cs typeface="Arial MT"/>
              </a:rPr>
              <a:t>S.</a:t>
            </a:r>
            <a:r>
              <a:rPr lang="en-IN" sz="1000" spc="100" dirty="0">
                <a:latin typeface="Arial MT"/>
                <a:cs typeface="Arial MT"/>
              </a:rPr>
              <a:t> </a:t>
            </a:r>
            <a:r>
              <a:rPr lang="en-IN" sz="1000" dirty="0" err="1">
                <a:latin typeface="Arial MT"/>
                <a:cs typeface="Arial MT"/>
              </a:rPr>
              <a:t>Haykin</a:t>
            </a:r>
            <a:r>
              <a:rPr lang="en-IN" sz="1000" spc="100" dirty="0">
                <a:latin typeface="Arial MT"/>
                <a:cs typeface="Arial MT"/>
              </a:rPr>
              <a:t> </a:t>
            </a:r>
            <a:r>
              <a:rPr lang="en-IN" sz="1000" dirty="0">
                <a:latin typeface="Arial MT"/>
                <a:cs typeface="Arial MT"/>
              </a:rPr>
              <a:t>and</a:t>
            </a:r>
            <a:r>
              <a:rPr lang="en-IN" sz="1000" spc="100" dirty="0">
                <a:latin typeface="Arial MT"/>
                <a:cs typeface="Arial MT"/>
              </a:rPr>
              <a:t> </a:t>
            </a:r>
            <a:r>
              <a:rPr lang="en-IN" sz="1000" dirty="0">
                <a:latin typeface="Arial MT"/>
                <a:cs typeface="Arial MT"/>
              </a:rPr>
              <a:t>M.</a:t>
            </a:r>
            <a:r>
              <a:rPr lang="en-IN" sz="1000" spc="100" dirty="0">
                <a:latin typeface="Arial MT"/>
                <a:cs typeface="Arial MT"/>
              </a:rPr>
              <a:t> </a:t>
            </a:r>
            <a:r>
              <a:rPr lang="en-IN" sz="1000" dirty="0">
                <a:latin typeface="Arial MT"/>
                <a:cs typeface="Arial MT"/>
              </a:rPr>
              <a:t>Moher,</a:t>
            </a:r>
            <a:r>
              <a:rPr lang="en-IN" sz="1000" spc="100" dirty="0">
                <a:latin typeface="Arial MT"/>
                <a:cs typeface="Arial MT"/>
              </a:rPr>
              <a:t> </a:t>
            </a:r>
            <a:r>
              <a:rPr lang="en-IN" sz="1000" i="1" dirty="0">
                <a:latin typeface="Arial"/>
                <a:cs typeface="Arial"/>
              </a:rPr>
              <a:t>Communication</a:t>
            </a:r>
            <a:r>
              <a:rPr lang="en-IN" sz="1000" i="1" spc="100" dirty="0">
                <a:latin typeface="Arial"/>
                <a:cs typeface="Arial"/>
              </a:rPr>
              <a:t> </a:t>
            </a:r>
            <a:r>
              <a:rPr lang="en-IN" sz="1000" i="1" dirty="0">
                <a:latin typeface="Arial"/>
                <a:cs typeface="Arial"/>
              </a:rPr>
              <a:t>Systems</a:t>
            </a:r>
            <a:r>
              <a:rPr lang="en-IN" sz="1000" dirty="0">
                <a:latin typeface="Arial MT"/>
                <a:cs typeface="Arial MT"/>
              </a:rPr>
              <a:t>,</a:t>
            </a:r>
            <a:r>
              <a:rPr lang="en-IN" sz="1000" spc="105" dirty="0">
                <a:latin typeface="Arial MT"/>
                <a:cs typeface="Arial MT"/>
              </a:rPr>
              <a:t> </a:t>
            </a:r>
            <a:r>
              <a:rPr lang="en-IN" sz="1000" dirty="0">
                <a:latin typeface="Arial MT"/>
                <a:cs typeface="Arial MT"/>
              </a:rPr>
              <a:t>5th</a:t>
            </a:r>
            <a:r>
              <a:rPr lang="en-IN" sz="1000" spc="100" dirty="0">
                <a:latin typeface="Arial MT"/>
                <a:cs typeface="Arial MT"/>
              </a:rPr>
              <a:t> </a:t>
            </a:r>
            <a:r>
              <a:rPr lang="en-IN" sz="1000" dirty="0">
                <a:latin typeface="Arial MT"/>
                <a:cs typeface="Arial MT"/>
              </a:rPr>
              <a:t>ed.</a:t>
            </a:r>
            <a:r>
              <a:rPr lang="en-IN" sz="1000" spc="100" dirty="0">
                <a:latin typeface="Arial MT"/>
                <a:cs typeface="Arial MT"/>
              </a:rPr>
              <a:t> </a:t>
            </a:r>
            <a:r>
              <a:rPr lang="en-IN" sz="1000" dirty="0">
                <a:latin typeface="Arial MT"/>
                <a:cs typeface="Arial MT"/>
              </a:rPr>
              <a:t>Hoboken,</a:t>
            </a:r>
            <a:r>
              <a:rPr lang="en-IN" sz="1000" spc="100" dirty="0">
                <a:latin typeface="Arial MT"/>
                <a:cs typeface="Arial MT"/>
              </a:rPr>
              <a:t> </a:t>
            </a:r>
            <a:r>
              <a:rPr lang="en-IN" sz="1000" dirty="0">
                <a:latin typeface="Arial MT"/>
                <a:cs typeface="Arial MT"/>
              </a:rPr>
              <a:t>NJ:</a:t>
            </a:r>
            <a:r>
              <a:rPr lang="en-IN" sz="1000" spc="100" dirty="0">
                <a:latin typeface="Arial MT"/>
                <a:cs typeface="Arial MT"/>
              </a:rPr>
              <a:t> </a:t>
            </a:r>
            <a:r>
              <a:rPr lang="en-IN" sz="1000" dirty="0">
                <a:latin typeface="Arial MT"/>
                <a:cs typeface="Arial MT"/>
              </a:rPr>
              <a:t>John</a:t>
            </a:r>
            <a:r>
              <a:rPr lang="en-IN" sz="1000" spc="100" dirty="0">
                <a:latin typeface="Arial MT"/>
                <a:cs typeface="Arial MT"/>
              </a:rPr>
              <a:t> </a:t>
            </a:r>
            <a:r>
              <a:rPr lang="en-IN" sz="1000" dirty="0">
                <a:latin typeface="Arial MT"/>
                <a:cs typeface="Arial MT"/>
              </a:rPr>
              <a:t>Wiley</a:t>
            </a:r>
            <a:r>
              <a:rPr lang="en-IN" sz="1000" spc="105" dirty="0">
                <a:latin typeface="Arial MT"/>
                <a:cs typeface="Arial MT"/>
              </a:rPr>
              <a:t> </a:t>
            </a:r>
            <a:r>
              <a:rPr lang="en-IN" sz="1000" dirty="0">
                <a:latin typeface="Arial MT"/>
                <a:cs typeface="Arial MT"/>
              </a:rPr>
              <a:t>&amp;</a:t>
            </a:r>
            <a:r>
              <a:rPr lang="en-IN" sz="1000" spc="100" dirty="0">
                <a:latin typeface="Arial MT"/>
                <a:cs typeface="Arial MT"/>
              </a:rPr>
              <a:t> </a:t>
            </a:r>
            <a:r>
              <a:rPr lang="en-IN" sz="1000" spc="-10" dirty="0">
                <a:latin typeface="Arial MT"/>
                <a:cs typeface="Arial MT"/>
              </a:rPr>
              <a:t>Sons, 2009.</a:t>
            </a:r>
            <a:endParaRPr lang="en-IN" sz="1000" dirty="0">
              <a:latin typeface="Arial MT"/>
              <a:cs typeface="Arial MT"/>
            </a:endParaRPr>
          </a:p>
          <a:p>
            <a:pPr marL="12700" marR="5080" indent="178435" algn="just">
              <a:lnSpc>
                <a:spcPct val="116700"/>
              </a:lnSpc>
              <a:spcBef>
                <a:spcPts val="600"/>
              </a:spcBef>
              <a:buAutoNum type="arabicPlain"/>
              <a:tabLst>
                <a:tab pos="191135" algn="l"/>
              </a:tabLst>
            </a:pPr>
            <a:r>
              <a:rPr lang="en-IN" sz="1000" dirty="0">
                <a:latin typeface="Arial MT"/>
                <a:cs typeface="Arial MT"/>
              </a:rPr>
              <a:t>Xilinx</a:t>
            </a:r>
            <a:r>
              <a:rPr lang="en-IN" sz="1000" spc="20" dirty="0">
                <a:latin typeface="Arial MT"/>
                <a:cs typeface="Arial MT"/>
              </a:rPr>
              <a:t> </a:t>
            </a:r>
            <a:r>
              <a:rPr lang="en-IN" sz="1000" dirty="0">
                <a:latin typeface="Arial MT"/>
                <a:cs typeface="Arial MT"/>
              </a:rPr>
              <a:t>Inc.,</a:t>
            </a:r>
            <a:r>
              <a:rPr lang="en-IN" sz="1000" spc="20" dirty="0">
                <a:latin typeface="Arial MT"/>
                <a:cs typeface="Arial MT"/>
              </a:rPr>
              <a:t> </a:t>
            </a:r>
            <a:r>
              <a:rPr lang="en-IN" sz="1000" i="1" dirty="0" err="1">
                <a:latin typeface="Arial"/>
                <a:cs typeface="Arial"/>
              </a:rPr>
              <a:t>Vivado</a:t>
            </a:r>
            <a:r>
              <a:rPr lang="en-IN" sz="1000" i="1" spc="20" dirty="0">
                <a:latin typeface="Arial"/>
                <a:cs typeface="Arial"/>
              </a:rPr>
              <a:t> </a:t>
            </a:r>
            <a:r>
              <a:rPr lang="en-IN" sz="1000" i="1" dirty="0">
                <a:latin typeface="Arial"/>
                <a:cs typeface="Arial"/>
              </a:rPr>
              <a:t>Design</a:t>
            </a:r>
            <a:r>
              <a:rPr lang="en-IN" sz="1000" i="1" spc="20" dirty="0">
                <a:latin typeface="Arial"/>
                <a:cs typeface="Arial"/>
              </a:rPr>
              <a:t> </a:t>
            </a:r>
            <a:r>
              <a:rPr lang="en-IN" sz="1000" i="1" dirty="0">
                <a:latin typeface="Arial"/>
                <a:cs typeface="Arial"/>
              </a:rPr>
              <a:t>Suite</a:t>
            </a:r>
            <a:r>
              <a:rPr lang="en-IN" sz="1000" i="1" spc="20" dirty="0">
                <a:latin typeface="Arial"/>
                <a:cs typeface="Arial"/>
              </a:rPr>
              <a:t> </a:t>
            </a:r>
            <a:r>
              <a:rPr lang="en-IN" sz="1000" i="1" dirty="0">
                <a:latin typeface="Arial"/>
                <a:cs typeface="Arial"/>
              </a:rPr>
              <a:t>User</a:t>
            </a:r>
            <a:r>
              <a:rPr lang="en-IN" sz="1000" i="1" spc="20" dirty="0">
                <a:latin typeface="Arial"/>
                <a:cs typeface="Arial"/>
              </a:rPr>
              <a:t> </a:t>
            </a:r>
            <a:r>
              <a:rPr lang="en-IN" sz="1000" i="1" dirty="0">
                <a:latin typeface="Arial"/>
                <a:cs typeface="Arial"/>
              </a:rPr>
              <a:t>Guide:</a:t>
            </a:r>
            <a:r>
              <a:rPr lang="en-IN" sz="1000" i="1" spc="20" dirty="0">
                <a:latin typeface="Arial"/>
                <a:cs typeface="Arial"/>
              </a:rPr>
              <a:t> </a:t>
            </a:r>
            <a:r>
              <a:rPr lang="en-IN" sz="1000" i="1" dirty="0">
                <a:latin typeface="Arial"/>
                <a:cs typeface="Arial"/>
              </a:rPr>
              <a:t>Logic</a:t>
            </a:r>
            <a:r>
              <a:rPr lang="en-IN" sz="1000" i="1" spc="20" dirty="0">
                <a:latin typeface="Arial"/>
                <a:cs typeface="Arial"/>
              </a:rPr>
              <a:t> </a:t>
            </a:r>
            <a:r>
              <a:rPr lang="en-IN" sz="1000" i="1" dirty="0">
                <a:latin typeface="Arial"/>
                <a:cs typeface="Arial"/>
              </a:rPr>
              <a:t>Simulation</a:t>
            </a:r>
            <a:r>
              <a:rPr lang="en-IN" sz="1000" dirty="0">
                <a:latin typeface="Arial MT"/>
                <a:cs typeface="Arial MT"/>
              </a:rPr>
              <a:t>,</a:t>
            </a:r>
            <a:r>
              <a:rPr lang="en-IN" sz="1000" spc="20" dirty="0">
                <a:latin typeface="Arial MT"/>
                <a:cs typeface="Arial MT"/>
              </a:rPr>
              <a:t> </a:t>
            </a:r>
            <a:r>
              <a:rPr lang="en-IN" sz="1000" dirty="0">
                <a:latin typeface="Arial MT"/>
                <a:cs typeface="Arial MT"/>
              </a:rPr>
              <a:t>UG900,</a:t>
            </a:r>
            <a:r>
              <a:rPr lang="en-IN" sz="1000" spc="25" dirty="0">
                <a:latin typeface="Arial MT"/>
                <a:cs typeface="Arial MT"/>
              </a:rPr>
              <a:t> </a:t>
            </a:r>
            <a:r>
              <a:rPr lang="en-IN" sz="1000" dirty="0">
                <a:latin typeface="Arial MT"/>
                <a:cs typeface="Arial MT"/>
              </a:rPr>
              <a:t>2021.</a:t>
            </a:r>
            <a:r>
              <a:rPr lang="en-IN" sz="1000" spc="20" dirty="0">
                <a:latin typeface="Arial MT"/>
                <a:cs typeface="Arial MT"/>
              </a:rPr>
              <a:t> </a:t>
            </a:r>
            <a:r>
              <a:rPr lang="en-IN" sz="1000" dirty="0">
                <a:latin typeface="Arial MT"/>
                <a:cs typeface="Arial MT"/>
              </a:rPr>
              <a:t>[Online].</a:t>
            </a:r>
            <a:r>
              <a:rPr lang="en-IN" sz="1000" spc="20" dirty="0">
                <a:latin typeface="Arial MT"/>
                <a:cs typeface="Arial MT"/>
              </a:rPr>
              <a:t> </a:t>
            </a:r>
            <a:r>
              <a:rPr lang="en-IN" sz="1000" spc="-10" dirty="0">
                <a:latin typeface="Arial MT"/>
                <a:cs typeface="Arial MT"/>
              </a:rPr>
              <a:t>Available: </a:t>
            </a:r>
            <a:r>
              <a:rPr lang="en-IN" sz="1000" spc="-10" dirty="0">
                <a:latin typeface="Arial MT"/>
                <a:cs typeface="Arial MT"/>
                <a:hlinkClick r:id="rId2"/>
              </a:rPr>
              <a:t>https://www.xilinx.com</a:t>
            </a:r>
            <a:endParaRPr lang="en-IN" sz="1000" dirty="0">
              <a:latin typeface="Arial MT"/>
              <a:cs typeface="Arial MT"/>
            </a:endParaRPr>
          </a:p>
          <a:p>
            <a:pPr marL="142875" indent="-79375" algn="just">
              <a:spcBef>
                <a:spcPts val="500"/>
              </a:spcBef>
              <a:buFontTx/>
              <a:buChar char="•"/>
              <a:tabLst>
                <a:tab pos="142875" algn="l"/>
              </a:tabLst>
            </a:pPr>
            <a:r>
              <a:rPr lang="en-US" sz="1000" dirty="0">
                <a:latin typeface="Arial MT"/>
                <a:cs typeface="Arial MT"/>
              </a:rPr>
              <a:t>7]</a:t>
            </a:r>
            <a:r>
              <a:rPr lang="en-US" sz="1000" spc="110" dirty="0">
                <a:latin typeface="Arial MT"/>
                <a:cs typeface="Arial MT"/>
              </a:rPr>
              <a:t> </a:t>
            </a:r>
            <a:r>
              <a:rPr lang="en-US" sz="1000" dirty="0">
                <a:latin typeface="Arial MT"/>
                <a:cs typeface="Arial MT"/>
              </a:rPr>
              <a:t>M.</a:t>
            </a:r>
            <a:r>
              <a:rPr lang="en-US" sz="1000" spc="110" dirty="0">
                <a:latin typeface="Arial MT"/>
                <a:cs typeface="Arial MT"/>
              </a:rPr>
              <a:t> </a:t>
            </a:r>
            <a:r>
              <a:rPr lang="en-US" sz="1000" dirty="0">
                <a:latin typeface="Arial MT"/>
                <a:cs typeface="Arial MT"/>
              </a:rPr>
              <a:t>D.</a:t>
            </a:r>
            <a:r>
              <a:rPr lang="en-US" sz="1000" spc="110" dirty="0">
                <a:latin typeface="Arial MT"/>
                <a:cs typeface="Arial MT"/>
              </a:rPr>
              <a:t> </a:t>
            </a:r>
            <a:r>
              <a:rPr lang="en-US" sz="1000" dirty="0">
                <a:latin typeface="Arial MT"/>
                <a:cs typeface="Arial MT"/>
              </a:rPr>
              <a:t>Ciletti,</a:t>
            </a:r>
            <a:r>
              <a:rPr lang="en-US" sz="1000" spc="114" dirty="0">
                <a:latin typeface="Arial MT"/>
                <a:cs typeface="Arial MT"/>
              </a:rPr>
              <a:t> </a:t>
            </a:r>
            <a:r>
              <a:rPr lang="en-US" sz="1000" i="1" dirty="0">
                <a:latin typeface="Arial"/>
                <a:cs typeface="Arial"/>
              </a:rPr>
              <a:t>Advanced</a:t>
            </a:r>
            <a:r>
              <a:rPr lang="en-US" sz="1000" i="1" spc="110" dirty="0">
                <a:latin typeface="Arial"/>
                <a:cs typeface="Arial"/>
              </a:rPr>
              <a:t> </a:t>
            </a:r>
            <a:r>
              <a:rPr lang="en-US" sz="1000" i="1" dirty="0">
                <a:latin typeface="Arial"/>
                <a:cs typeface="Arial"/>
              </a:rPr>
              <a:t>Digital</a:t>
            </a:r>
            <a:r>
              <a:rPr lang="en-US" sz="1000" i="1" spc="110" dirty="0">
                <a:latin typeface="Arial"/>
                <a:cs typeface="Arial"/>
              </a:rPr>
              <a:t> </a:t>
            </a:r>
            <a:r>
              <a:rPr lang="en-US" sz="1000" i="1" dirty="0">
                <a:latin typeface="Arial"/>
                <a:cs typeface="Arial"/>
              </a:rPr>
              <a:t>Design</a:t>
            </a:r>
            <a:r>
              <a:rPr lang="en-US" sz="1000" i="1" spc="110" dirty="0">
                <a:latin typeface="Arial"/>
                <a:cs typeface="Arial"/>
              </a:rPr>
              <a:t> </a:t>
            </a:r>
            <a:r>
              <a:rPr lang="en-US" sz="1000" i="1" dirty="0">
                <a:latin typeface="Arial"/>
                <a:cs typeface="Arial"/>
              </a:rPr>
              <a:t>with</a:t>
            </a:r>
            <a:r>
              <a:rPr lang="en-US" sz="1000" i="1" spc="114" dirty="0">
                <a:latin typeface="Arial"/>
                <a:cs typeface="Arial"/>
              </a:rPr>
              <a:t> </a:t>
            </a:r>
            <a:r>
              <a:rPr lang="en-US" sz="1000" i="1" dirty="0">
                <a:latin typeface="Arial"/>
                <a:cs typeface="Arial"/>
              </a:rPr>
              <a:t>the</a:t>
            </a:r>
            <a:r>
              <a:rPr lang="en-US" sz="1000" i="1" spc="110" dirty="0">
                <a:latin typeface="Arial"/>
                <a:cs typeface="Arial"/>
              </a:rPr>
              <a:t> </a:t>
            </a:r>
            <a:r>
              <a:rPr lang="en-US" sz="1000" i="1" dirty="0">
                <a:latin typeface="Arial"/>
                <a:cs typeface="Arial"/>
              </a:rPr>
              <a:t>Verilog</a:t>
            </a:r>
            <a:r>
              <a:rPr lang="en-US" sz="1000" i="1" spc="110" dirty="0">
                <a:latin typeface="Arial"/>
                <a:cs typeface="Arial"/>
              </a:rPr>
              <a:t> </a:t>
            </a:r>
            <a:r>
              <a:rPr lang="en-US" sz="1000" i="1" dirty="0">
                <a:latin typeface="Arial"/>
                <a:cs typeface="Arial"/>
              </a:rPr>
              <a:t>HDL</a:t>
            </a:r>
            <a:r>
              <a:rPr lang="en-US" sz="1000" dirty="0">
                <a:latin typeface="Arial MT"/>
                <a:cs typeface="Arial MT"/>
              </a:rPr>
              <a:t>,</a:t>
            </a:r>
            <a:r>
              <a:rPr lang="en-US" sz="1000" spc="110" dirty="0">
                <a:latin typeface="Arial MT"/>
                <a:cs typeface="Arial MT"/>
              </a:rPr>
              <a:t> </a:t>
            </a:r>
            <a:r>
              <a:rPr lang="en-US" sz="1000" dirty="0">
                <a:latin typeface="Arial MT"/>
                <a:cs typeface="Arial MT"/>
              </a:rPr>
              <a:t>2nd</a:t>
            </a:r>
            <a:r>
              <a:rPr lang="en-US" sz="1000" spc="114" dirty="0">
                <a:latin typeface="Arial MT"/>
                <a:cs typeface="Arial MT"/>
              </a:rPr>
              <a:t> </a:t>
            </a:r>
            <a:r>
              <a:rPr lang="en-US" sz="1000" dirty="0">
                <a:latin typeface="Arial MT"/>
                <a:cs typeface="Arial MT"/>
              </a:rPr>
              <a:t>ed.</a:t>
            </a:r>
            <a:r>
              <a:rPr lang="en-US" sz="1000" spc="110" dirty="0">
                <a:latin typeface="Arial MT"/>
                <a:cs typeface="Arial MT"/>
              </a:rPr>
              <a:t> </a:t>
            </a:r>
            <a:r>
              <a:rPr lang="en-US" sz="1000" dirty="0">
                <a:latin typeface="Arial MT"/>
                <a:cs typeface="Arial MT"/>
              </a:rPr>
              <a:t>Upper</a:t>
            </a:r>
            <a:r>
              <a:rPr lang="en-US" sz="1000" spc="110" dirty="0">
                <a:latin typeface="Arial MT"/>
                <a:cs typeface="Arial MT"/>
              </a:rPr>
              <a:t> </a:t>
            </a:r>
            <a:r>
              <a:rPr lang="en-US" sz="1000" dirty="0">
                <a:latin typeface="Arial MT"/>
                <a:cs typeface="Arial MT"/>
              </a:rPr>
              <a:t>Saddle</a:t>
            </a:r>
            <a:r>
              <a:rPr lang="en-US" sz="1000" spc="110" dirty="0">
                <a:latin typeface="Arial MT"/>
                <a:cs typeface="Arial MT"/>
              </a:rPr>
              <a:t> </a:t>
            </a:r>
            <a:r>
              <a:rPr lang="en-US" sz="1000" dirty="0">
                <a:latin typeface="Arial MT"/>
                <a:cs typeface="Arial MT"/>
              </a:rPr>
              <a:t>River,</a:t>
            </a:r>
            <a:r>
              <a:rPr lang="en-US" sz="1000" spc="114" dirty="0">
                <a:latin typeface="Arial MT"/>
                <a:cs typeface="Arial MT"/>
              </a:rPr>
              <a:t> </a:t>
            </a:r>
            <a:r>
              <a:rPr lang="en-US" sz="1000" spc="-25" dirty="0">
                <a:latin typeface="Arial MT"/>
                <a:cs typeface="Arial MT"/>
              </a:rPr>
              <a:t>NJ: </a:t>
            </a:r>
            <a:r>
              <a:rPr lang="en-US" sz="1000" dirty="0">
                <a:latin typeface="Arial MT"/>
                <a:cs typeface="Arial MT"/>
              </a:rPr>
              <a:t>Pearson Prentice Hall, </a:t>
            </a:r>
            <a:r>
              <a:rPr lang="en-US" sz="1000" spc="-10" dirty="0">
                <a:latin typeface="Arial MT"/>
                <a:cs typeface="Arial MT"/>
              </a:rPr>
              <a:t>2011.</a:t>
            </a:r>
            <a:endParaRPr lang="en-US" sz="1000" dirty="0">
              <a:latin typeface="Arial MT"/>
              <a:cs typeface="Arial MT"/>
            </a:endParaRPr>
          </a:p>
          <a:p>
            <a:pPr marL="142875" indent="-79375">
              <a:lnSpc>
                <a:spcPct val="100000"/>
              </a:lnSpc>
              <a:spcBef>
                <a:spcPts val="500"/>
              </a:spcBef>
              <a:buChar char="•"/>
              <a:tabLst>
                <a:tab pos="142875" algn="l"/>
              </a:tabLst>
            </a:pPr>
            <a:endParaRPr sz="1000" dirty="0">
              <a:latin typeface="Arial MT"/>
              <a:cs typeface="Arial MT"/>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200</TotalTime>
  <Words>1053</Words>
  <Application>Microsoft Office PowerPoint</Application>
  <PresentationFormat>Custom</PresentationFormat>
  <Paragraphs>69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Arial MT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(anonymous)</dc:title>
  <dc:subject>(unspecified)</dc:subject>
  <dc:creator>(anonymous)</dc:creator>
  <cp:lastModifiedBy>SMRITHI POOJARY</cp:lastModifiedBy>
  <cp:revision>5</cp:revision>
  <dcterms:created xsi:type="dcterms:W3CDTF">2026-05-02T13:13:38Z</dcterms:created>
  <dcterms:modified xsi:type="dcterms:W3CDTF">2026-05-12T02:41:06Z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2026-05-02T00:00:00Z</vt:filetime>
  </property>
  <property fmtid="{D5CDD505-2E9C-101B-9397-08002B2CF9AE}" pid="3" name="Creator">
    <vt:lpwstr>(unspecified)</vt:lpwstr>
  </property>
  <property fmtid="{D5CDD505-2E9C-101B-9397-08002B2CF9AE}" pid="4" name="LastSaved">
    <vt:filetime>2026-05-02T00:00:00Z</vt:filetime>
  </property>
  <property fmtid="{D5CDD505-2E9C-101B-9397-08002B2CF9AE}" pid="5" name="Producer">
    <vt:lpwstr>ReportLab PDF Library - (opensource)</vt:lpwstr>
  </property>
</Properties>
</file>